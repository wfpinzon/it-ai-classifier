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5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86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ROI a 12 meses (%)</c:v>
                </c:pt>
              </c:strCache>
            </c:strRef>
          </c:tx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/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1.000 tickets</c:v>
                </c:pt>
                <c:pt idx="1">
                  <c:v>2.000 tickets</c:v>
                </c:pt>
                <c:pt idx="2">
                  <c:v>4.000 tickets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-82</c:v>
                </c:pt>
                <c:pt idx="1">
                  <c:v>21</c:v>
                </c:pt>
                <c:pt idx="2">
                  <c:v>227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E1-451D-A378-85E21A3323B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s-CO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50"/>
          <c:min val="-10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s-CO"/>
          </a:p>
        </c:txPr>
        <c:crossAx val="-2068027336"/>
        <c:crosses val="autoZero"/>
        <c:crossBetween val="between"/>
        <c:majorUnit val="5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537960"/>
            <a:ext cx="10972800" cy="16459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800" b="0">
                <a:solidFill>
                  <a:srgbClr val="BECDDE"/>
                </a:solidFill>
                <a:latin typeface="Aptos"/>
              </a:defRPr>
            </a:pPr>
            <a:r>
              <a:t>IT-AI Classifier • Entregable 7 • 01</a:t>
            </a:r>
          </a:p>
        </p:txBody>
      </p:sp>
      <p:sp>
        <p:nvSpPr>
          <p:cNvPr id="3" name="Oval 2"/>
          <p:cNvSpPr/>
          <p:nvPr/>
        </p:nvSpPr>
        <p:spPr>
          <a:xfrm>
            <a:off x="8595360" y="731520"/>
            <a:ext cx="1828800" cy="1828800"/>
          </a:xfrm>
          <a:prstGeom prst="ellipse">
            <a:avLst/>
          </a:prstGeom>
          <a:solidFill>
            <a:srgbClr val="1D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784080" y="1920240"/>
            <a:ext cx="1371600" cy="1371600"/>
          </a:xfrm>
          <a:prstGeom prst="ellipse">
            <a:avLst/>
          </a:prstGeom>
          <a:solidFill>
            <a:srgbClr val="2A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955279" y="3108960"/>
            <a:ext cx="914400" cy="914400"/>
          </a:xfrm>
          <a:prstGeom prst="ellipse">
            <a:avLst/>
          </a:prstGeom>
          <a:solidFill>
            <a:srgbClr val="1D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424160" y="4023360"/>
            <a:ext cx="731520" cy="731520"/>
          </a:xfrm>
          <a:prstGeom prst="ellipse">
            <a:avLst/>
          </a:prstGeom>
          <a:solidFill>
            <a:srgbClr val="2A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58368"/>
            <a:ext cx="7315200" cy="32004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200" b="1">
                <a:solidFill>
                  <a:srgbClr val="2ABED2"/>
                </a:solidFill>
                <a:latin typeface="Aptos"/>
              </a:defRPr>
            </a:pPr>
            <a:r>
              <a:t>ENTREGABLE 7 | PRESENTACIÓN EJECUTIVA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7589520" cy="77724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"/>
              </a:defRPr>
            </a:pPr>
            <a:r>
              <a:t>IT-AI Classifier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240280"/>
            <a:ext cx="6858000" cy="73152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2300" b="0">
                <a:solidFill>
                  <a:srgbClr val="D8E5F5"/>
                </a:solidFill>
                <a:latin typeface="Aptos"/>
              </a:defRPr>
            </a:pPr>
            <a:r>
              <a:t>Clasificación inteligente de incidentes de soporte 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200400"/>
            <a:ext cx="6400800" cy="68580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800" b="0">
                <a:solidFill>
                  <a:srgbClr val="2ABED2"/>
                </a:solidFill>
                <a:latin typeface="Aptos"/>
              </a:defRPr>
            </a:pPr>
            <a:r>
              <a:t>De tickets desorganizados a recomendaciones útiles para el técnico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5029200"/>
            <a:ext cx="6400800" cy="91440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500" b="0">
                <a:solidFill>
                  <a:srgbClr val="FFFFFF"/>
                </a:solidFill>
                <a:latin typeface="Aptos"/>
              </a:defRPr>
            </a:pPr>
            <a:r>
              <a:rPr dirty="0"/>
              <a:t>Autor: Wilson Fernando Pinzón Guacaneme</a:t>
            </a:r>
            <a:br>
              <a:rPr dirty="0"/>
            </a:br>
            <a:r>
              <a:rPr dirty="0" err="1"/>
              <a:t>Disciplina</a:t>
            </a:r>
            <a:r>
              <a:rPr dirty="0"/>
              <a:t>: Ingeniería de Sistemas</a:t>
            </a:r>
            <a:br>
              <a:rPr dirty="0"/>
            </a:br>
            <a:r>
              <a:rPr dirty="0"/>
              <a:t>Área: Soporte TI / Mesa de Ayuda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64592"/>
            <a:ext cx="5486400" cy="22860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900" b="1">
                <a:solidFill>
                  <a:srgbClr val="1D68BE"/>
                </a:solidFill>
                <a:latin typeface="Aptos"/>
              </a:defRPr>
            </a:pPr>
            <a:r>
              <a:t>01 • APERTURA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50292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2700" b="1">
                <a:solidFill>
                  <a:srgbClr val="0D1B34"/>
                </a:solidFill>
                <a:latin typeface="Aptos"/>
              </a:defRPr>
            </a:pPr>
            <a:r>
              <a:t>La pregunta que guía el proyecto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987552"/>
            <a:ext cx="1005840" cy="45720"/>
          </a:xfrm>
          <a:prstGeom prst="rect">
            <a:avLst/>
          </a:prstGeom>
          <a:solidFill>
            <a:srgbClr val="1D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537960"/>
            <a:ext cx="10972800" cy="16459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800" b="0">
                <a:solidFill>
                  <a:srgbClr val="5F7084"/>
                </a:solidFill>
                <a:latin typeface="Aptos"/>
              </a:defRPr>
            </a:pPr>
            <a:r>
              <a:t>IT-AI Classifier • Entregable 7 •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114300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2800" b="1">
                <a:solidFill>
                  <a:srgbClr val="0D1B34"/>
                </a:solidFill>
                <a:latin typeface="Aptos"/>
              </a:defRPr>
            </a:pPr>
            <a:r>
              <a:t>¿Cómo clasificar incidentes con mayor consistencia y liberar tiempo del equipo sin quitarle el control al técnico?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154680"/>
            <a:ext cx="3337560" cy="1920240"/>
          </a:xfrm>
          <a:prstGeom prst="roundRect">
            <a:avLst/>
          </a:prstGeom>
          <a:solidFill>
            <a:srgbClr val="F1F6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3154680"/>
            <a:ext cx="73152" cy="1920240"/>
          </a:xfrm>
          <a:prstGeom prst="rect">
            <a:avLst/>
          </a:prstGeom>
          <a:solidFill>
            <a:srgbClr val="1D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3291840"/>
            <a:ext cx="3017520" cy="34747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600" b="1">
                <a:solidFill>
                  <a:srgbClr val="0D1B34"/>
                </a:solidFill>
                <a:latin typeface="Aptos"/>
              </a:defRPr>
            </a:pPr>
            <a:r>
              <a:t>El reto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721608"/>
            <a:ext cx="3017520" cy="128016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300" b="0">
                <a:solidFill>
                  <a:srgbClr val="1E2B3C"/>
                </a:solidFill>
                <a:latin typeface="Aptos"/>
              </a:defRPr>
            </a:pPr>
            <a:r>
              <a:t>Leer y categorizar cada ticket manualmente consume tiempo.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3154680"/>
            <a:ext cx="3337560" cy="1920240"/>
          </a:xfrm>
          <a:prstGeom prst="roundRect">
            <a:avLst/>
          </a:prstGeom>
          <a:solidFill>
            <a:srgbClr val="F1F6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34840" y="3154680"/>
            <a:ext cx="73152" cy="1920240"/>
          </a:xfrm>
          <a:prstGeom prst="rect">
            <a:avLst/>
          </a:prstGeom>
          <a:solidFill>
            <a:srgbClr val="2A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3291840"/>
            <a:ext cx="3017520" cy="34747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600" b="1">
                <a:solidFill>
                  <a:srgbClr val="0D1B34"/>
                </a:solidFill>
                <a:latin typeface="Aptos"/>
              </a:defRPr>
            </a:pPr>
            <a:r>
              <a:t>La propuesta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721608"/>
            <a:ext cx="3017520" cy="128016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300" b="0">
                <a:solidFill>
                  <a:srgbClr val="1E2B3C"/>
                </a:solidFill>
                <a:latin typeface="Aptos"/>
              </a:defRPr>
            </a:pPr>
            <a:r>
              <a:t>Usar IA para sugerir una categoría a partir de la descripción.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154680"/>
            <a:ext cx="3337560" cy="1920240"/>
          </a:xfrm>
          <a:prstGeom prst="roundRect">
            <a:avLst/>
          </a:prstGeom>
          <a:solidFill>
            <a:srgbClr val="F1F6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3154680"/>
            <a:ext cx="73152" cy="1920240"/>
          </a:xfrm>
          <a:prstGeom prst="rect">
            <a:avLst/>
          </a:prstGeom>
          <a:solidFill>
            <a:srgbClr val="1B8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0" y="3291840"/>
            <a:ext cx="3017520" cy="34747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600" b="1">
                <a:solidFill>
                  <a:srgbClr val="0D1B34"/>
                </a:solidFill>
                <a:latin typeface="Aptos"/>
              </a:defRPr>
            </a:pPr>
            <a:r>
              <a:t>La condición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721608"/>
            <a:ext cx="3017520" cy="128016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300" b="0">
                <a:solidFill>
                  <a:srgbClr val="1E2B3C"/>
                </a:solidFill>
                <a:latin typeface="Aptos"/>
              </a:defRPr>
            </a:pPr>
            <a:r>
              <a:t>El técnico revisa, confirma o corrige.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64592"/>
            <a:ext cx="5486400" cy="22860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900" b="1">
                <a:solidFill>
                  <a:srgbClr val="1D68BE"/>
                </a:solidFill>
                <a:latin typeface="Aptos"/>
              </a:defRPr>
            </a:pPr>
            <a:r>
              <a:t>02 •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50292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2700" b="1">
                <a:solidFill>
                  <a:srgbClr val="0D1B34"/>
                </a:solidFill>
                <a:latin typeface="Aptos"/>
              </a:defRPr>
            </a:pPr>
            <a:r>
              <a:t>El problema: una tarea repetitiva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987552"/>
            <a:ext cx="1005840" cy="45720"/>
          </a:xfrm>
          <a:prstGeom prst="rect">
            <a:avLst/>
          </a:prstGeom>
          <a:solidFill>
            <a:srgbClr val="1D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537960"/>
            <a:ext cx="10972800" cy="16459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800" b="0">
                <a:solidFill>
                  <a:srgbClr val="5F7084"/>
                </a:solidFill>
                <a:latin typeface="Aptos"/>
              </a:defRPr>
            </a:pPr>
            <a:r>
              <a:t>IT-AI Classifier • Entregable 7 •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6492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E2B3C"/>
                </a:solidFill>
                <a:latin typeface="Aptos"/>
              </a:defRPr>
            </a:pPr>
            <a:r>
              <a:t>•  Cada ticket debe leerse, interpretarse y asignarse a una categoría.</a:t>
            </a:r>
          </a:p>
          <a:p>
            <a:pPr>
              <a:spcAft>
                <a:spcPts val="1200"/>
              </a:spcAft>
              <a:defRPr sz="1900">
                <a:solidFill>
                  <a:srgbClr val="1E2B3C"/>
                </a:solidFill>
                <a:latin typeface="Aptos"/>
              </a:defRPr>
            </a:pPr>
            <a:r>
              <a:t>•  Descripciones breves o ambiguas pueden terminar en categorías incorrectas.</a:t>
            </a:r>
          </a:p>
          <a:p>
            <a:pPr>
              <a:spcAft>
                <a:spcPts val="1200"/>
              </a:spcAft>
              <a:defRPr sz="1900">
                <a:solidFill>
                  <a:srgbClr val="1E2B3C"/>
                </a:solidFill>
                <a:latin typeface="Aptos"/>
              </a:defRPr>
            </a:pPr>
            <a:r>
              <a:t>•  Las categorías inconsistentes dificultan el análisis de incidentes.</a:t>
            </a:r>
          </a:p>
          <a:p>
            <a:pPr>
              <a:spcAft>
                <a:spcPts val="1200"/>
              </a:spcAft>
              <a:defRPr sz="1900">
                <a:solidFill>
                  <a:srgbClr val="1E2B3C"/>
                </a:solidFill>
                <a:latin typeface="Aptos"/>
              </a:defRPr>
            </a:pPr>
            <a:r>
              <a:t>•  El tiempo de clasificación compite con el tiempo disponible para resolver.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1508760"/>
            <a:ext cx="3474720" cy="1234440"/>
          </a:xfrm>
          <a:prstGeom prst="roundRect">
            <a:avLst/>
          </a:prstGeom>
          <a:solidFill>
            <a:srgbClr val="F1F6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818120" y="1508760"/>
            <a:ext cx="73152" cy="1234440"/>
          </a:xfrm>
          <a:prstGeom prst="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01000" y="1645919"/>
            <a:ext cx="3154679" cy="34747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600" b="1">
                <a:solidFill>
                  <a:srgbClr val="0D1B34"/>
                </a:solidFill>
                <a:latin typeface="Aptos"/>
              </a:defRPr>
            </a:pPr>
            <a:r>
              <a:t>Antes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2075688"/>
            <a:ext cx="3154679" cy="59436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300" b="0">
                <a:solidFill>
                  <a:srgbClr val="1E2B3C"/>
                </a:solidFill>
                <a:latin typeface="Aptos"/>
              </a:defRPr>
            </a:pPr>
            <a:r>
              <a:t>El técnico clasifica desde cero.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2971800"/>
            <a:ext cx="3474720" cy="1234440"/>
          </a:xfrm>
          <a:prstGeom prst="roundRect">
            <a:avLst/>
          </a:prstGeom>
          <a:solidFill>
            <a:srgbClr val="F1F6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818120" y="2971800"/>
            <a:ext cx="73152" cy="1234440"/>
          </a:xfrm>
          <a:prstGeom prst="rect">
            <a:avLst/>
          </a:prstGeom>
          <a:solidFill>
            <a:srgbClr val="E69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01000" y="3108960"/>
            <a:ext cx="3154679" cy="34747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600" b="1">
                <a:solidFill>
                  <a:srgbClr val="0D1B34"/>
                </a:solidFill>
                <a:latin typeface="Aptos"/>
              </a:defRPr>
            </a:pPr>
            <a:r>
              <a:t>Riesgo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3538728"/>
            <a:ext cx="3154679" cy="59436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300" b="0">
                <a:solidFill>
                  <a:srgbClr val="1E2B3C"/>
                </a:solidFill>
                <a:latin typeface="Aptos"/>
              </a:defRPr>
            </a:pPr>
            <a:r>
              <a:t>Diferencias de criterio y retrabajo.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4434840"/>
            <a:ext cx="3474720" cy="1234440"/>
          </a:xfrm>
          <a:prstGeom prst="roundRect">
            <a:avLst/>
          </a:prstGeom>
          <a:solidFill>
            <a:srgbClr val="F1F6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818120" y="4434840"/>
            <a:ext cx="73152" cy="1234440"/>
          </a:xfrm>
          <a:prstGeom prst="rect">
            <a:avLst/>
          </a:prstGeom>
          <a:solidFill>
            <a:srgbClr val="1B8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01000" y="4572000"/>
            <a:ext cx="3154679" cy="34747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600" b="1">
                <a:solidFill>
                  <a:srgbClr val="0D1B34"/>
                </a:solidFill>
                <a:latin typeface="Aptos"/>
              </a:defRPr>
            </a:pPr>
            <a:r>
              <a:t>Oportunidad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5001768"/>
            <a:ext cx="3154679" cy="59436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300" b="0">
                <a:solidFill>
                  <a:srgbClr val="1E2B3C"/>
                </a:solidFill>
                <a:latin typeface="Aptos"/>
              </a:defRPr>
            </a:pPr>
            <a:r>
              <a:t>Apoyar la decisión sin automatizarla por completo.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64592"/>
            <a:ext cx="5486400" cy="22860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900" b="1">
                <a:solidFill>
                  <a:srgbClr val="1D68BE"/>
                </a:solidFill>
                <a:latin typeface="Aptos"/>
              </a:defRPr>
            </a:pPr>
            <a:r>
              <a:t>02 •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50292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2700" b="1">
                <a:solidFill>
                  <a:srgbClr val="0D1B34"/>
                </a:solidFill>
                <a:latin typeface="Aptos"/>
              </a:defRPr>
            </a:pPr>
            <a:r>
              <a:t>¿A quién afecta y por qué importa?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987552"/>
            <a:ext cx="1005840" cy="45720"/>
          </a:xfrm>
          <a:prstGeom prst="rect">
            <a:avLst/>
          </a:prstGeom>
          <a:solidFill>
            <a:srgbClr val="1D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537960"/>
            <a:ext cx="10972800" cy="16459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800" b="0">
                <a:solidFill>
                  <a:srgbClr val="5F7084"/>
                </a:solidFill>
                <a:latin typeface="Aptos"/>
              </a:defRPr>
            </a:pPr>
            <a:r>
              <a:t>IT-AI Classifier • Entregable 7 • 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08760"/>
            <a:ext cx="3429000" cy="1828800"/>
          </a:xfrm>
          <a:prstGeom prst="roundRect">
            <a:avLst/>
          </a:prstGeom>
          <a:solidFill>
            <a:srgbClr val="F1F6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508760"/>
            <a:ext cx="73152" cy="1828800"/>
          </a:xfrm>
          <a:prstGeom prst="rect">
            <a:avLst/>
          </a:prstGeom>
          <a:solidFill>
            <a:srgbClr val="1D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645919"/>
            <a:ext cx="3108960" cy="34747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600" b="1">
                <a:solidFill>
                  <a:srgbClr val="0D1B34"/>
                </a:solidFill>
                <a:latin typeface="Aptos"/>
              </a:defRPr>
            </a:pPr>
            <a:r>
              <a:t>Usuarios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075688"/>
            <a:ext cx="3108960" cy="118872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300" b="0">
                <a:solidFill>
                  <a:srgbClr val="1E2B3C"/>
                </a:solidFill>
                <a:latin typeface="Aptos"/>
              </a:defRPr>
            </a:pPr>
            <a:r>
              <a:t>Esperan que su solicitud llegue al equipo adecuado.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08760"/>
            <a:ext cx="3429000" cy="1828800"/>
          </a:xfrm>
          <a:prstGeom prst="roundRect">
            <a:avLst/>
          </a:prstGeom>
          <a:solidFill>
            <a:srgbClr val="F1F6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508760"/>
            <a:ext cx="73152" cy="1828800"/>
          </a:xfrm>
          <a:prstGeom prst="rect">
            <a:avLst/>
          </a:prstGeom>
          <a:solidFill>
            <a:srgbClr val="2A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645919"/>
            <a:ext cx="3108960" cy="34747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600" b="1">
                <a:solidFill>
                  <a:srgbClr val="0D1B34"/>
                </a:solidFill>
                <a:latin typeface="Aptos"/>
              </a:defRPr>
            </a:pPr>
            <a:r>
              <a:t>Técnicos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075688"/>
            <a:ext cx="3108960" cy="118872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300" b="0">
                <a:solidFill>
                  <a:srgbClr val="1E2B3C"/>
                </a:solidFill>
                <a:latin typeface="Aptos"/>
              </a:defRPr>
            </a:pPr>
            <a:r>
              <a:t>Necesitan dedicar más tiempo al diagnóstico y solución.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508760"/>
            <a:ext cx="3429000" cy="1828800"/>
          </a:xfrm>
          <a:prstGeom prst="roundRect">
            <a:avLst/>
          </a:prstGeom>
          <a:solidFill>
            <a:srgbClr val="F1F6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955279" y="1508760"/>
            <a:ext cx="73152" cy="1828800"/>
          </a:xfrm>
          <a:prstGeom prst="rect">
            <a:avLst/>
          </a:prstGeom>
          <a:solidFill>
            <a:srgbClr val="1B8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38159" y="1645919"/>
            <a:ext cx="3108960" cy="34747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600" b="1">
                <a:solidFill>
                  <a:srgbClr val="0D1B34"/>
                </a:solidFill>
                <a:latin typeface="Aptos"/>
              </a:defRPr>
            </a:pPr>
            <a:r>
              <a:t>Organización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59" y="2075688"/>
            <a:ext cx="3108960" cy="118872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300" b="0">
                <a:solidFill>
                  <a:srgbClr val="1E2B3C"/>
                </a:solidFill>
                <a:latin typeface="Aptos"/>
              </a:defRPr>
            </a:pPr>
            <a:r>
              <a:t>Necesita datos consistentes para mejorar el servicio.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14800"/>
            <a:ext cx="10241280" cy="64008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 algn="ctr">
              <a:defRPr sz="2200" b="1">
                <a:solidFill>
                  <a:srgbClr val="0D1B34"/>
                </a:solidFill>
                <a:latin typeface="Aptos"/>
              </a:defRPr>
            </a:pPr>
            <a:r>
              <a:t>El proyecto mejora el primer paso del proceso: entender y categorizar el incidente.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64592"/>
            <a:ext cx="5486400" cy="22860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900" b="1">
                <a:solidFill>
                  <a:srgbClr val="1D68BE"/>
                </a:solidFill>
                <a:latin typeface="Aptos"/>
              </a:defRPr>
            </a:pPr>
            <a:r>
              <a:t>03 •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50292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2700" b="1">
                <a:solidFill>
                  <a:srgbClr val="0D1B34"/>
                </a:solidFill>
                <a:latin typeface="Aptos"/>
              </a:defRPr>
            </a:pPr>
            <a:r>
              <a:t>¿Qué información teníamos?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987552"/>
            <a:ext cx="1005840" cy="45720"/>
          </a:xfrm>
          <a:prstGeom prst="rect">
            <a:avLst/>
          </a:prstGeom>
          <a:solidFill>
            <a:srgbClr val="1D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537960"/>
            <a:ext cx="10972800" cy="16459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800" b="0">
                <a:solidFill>
                  <a:srgbClr val="5F7084"/>
                </a:solidFill>
                <a:latin typeface="Aptos"/>
              </a:defRPr>
            </a:pPr>
            <a:r>
              <a:t>IT-AI Classifier • Entregable 7 • 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560320" cy="1417320"/>
          </a:xfrm>
          <a:prstGeom prst="roundRect">
            <a:avLst/>
          </a:prstGeom>
          <a:solidFill>
            <a:srgbClr val="F1F6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9536" y="1481328"/>
            <a:ext cx="2331720" cy="22860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900" b="1">
                <a:solidFill>
                  <a:srgbClr val="5F7084"/>
                </a:solidFill>
                <a:latin typeface="Aptos"/>
              </a:defRPr>
            </a:pPr>
            <a:r>
              <a:t>TICKETS SINTÉTICOS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755648"/>
            <a:ext cx="2331720" cy="475488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2500" b="1">
                <a:solidFill>
                  <a:srgbClr val="1D68BE"/>
                </a:solidFill>
                <a:latin typeface="Aptos"/>
              </a:defRPr>
            </a:pPr>
            <a:r>
              <a:t>1.000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304288"/>
            <a:ext cx="2331720" cy="34747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000" b="0">
                <a:solidFill>
                  <a:srgbClr val="1E2B3C"/>
                </a:solidFill>
                <a:latin typeface="Aptos"/>
              </a:defRPr>
            </a:pPr>
            <a:r>
              <a:t>Dataset académico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371600"/>
            <a:ext cx="2560320" cy="1417320"/>
          </a:xfrm>
          <a:prstGeom prst="roundRect">
            <a:avLst/>
          </a:prstGeom>
          <a:solidFill>
            <a:srgbClr val="F1F6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02736" y="1481328"/>
            <a:ext cx="2331720" cy="22860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900" b="1">
                <a:solidFill>
                  <a:srgbClr val="5F7084"/>
                </a:solidFill>
                <a:latin typeface="Aptos"/>
              </a:defRPr>
            </a:pPr>
            <a:r>
              <a:t>VARIABLES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2736" y="1755648"/>
            <a:ext cx="2331720" cy="475488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2500" b="1">
                <a:solidFill>
                  <a:srgbClr val="2ABED2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2736" y="2304288"/>
            <a:ext cx="2331720" cy="34747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000" b="0">
                <a:solidFill>
                  <a:srgbClr val="1E2B3C"/>
                </a:solidFill>
                <a:latin typeface="Aptos"/>
              </a:defRPr>
            </a:pPr>
            <a:r>
              <a:t>Atributos del ticket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71600"/>
            <a:ext cx="2560320" cy="1417320"/>
          </a:xfrm>
          <a:prstGeom prst="roundRect">
            <a:avLst/>
          </a:prstGeom>
          <a:solidFill>
            <a:srgbClr val="F1F6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45936" y="1481328"/>
            <a:ext cx="2331720" cy="22860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900" b="1">
                <a:solidFill>
                  <a:srgbClr val="5F7084"/>
                </a:solidFill>
                <a:latin typeface="Aptos"/>
              </a:defRPr>
            </a:pPr>
            <a:r>
              <a:t>PRUEBA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5936" y="1755648"/>
            <a:ext cx="2331720" cy="475488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2500" b="1">
                <a:solidFill>
                  <a:srgbClr val="1B8C62"/>
                </a:solidFill>
                <a:latin typeface="Aptos"/>
              </a:defRPr>
            </a:pPr>
            <a:r>
              <a:t>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2304288"/>
            <a:ext cx="2331720" cy="34747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000" b="0">
                <a:solidFill>
                  <a:srgbClr val="1E2B3C"/>
                </a:solidFill>
                <a:latin typeface="Aptos"/>
              </a:defRPr>
            </a:pPr>
            <a:r>
              <a:t>20 % separado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371600"/>
            <a:ext cx="2468880" cy="1417320"/>
          </a:xfrm>
          <a:prstGeom prst="roundRect">
            <a:avLst/>
          </a:prstGeom>
          <a:solidFill>
            <a:srgbClr val="F1F6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89136" y="1481328"/>
            <a:ext cx="2240280" cy="22860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900" b="1">
                <a:solidFill>
                  <a:srgbClr val="5F7084"/>
                </a:solidFill>
                <a:latin typeface="Aptos"/>
              </a:defRPr>
            </a:pPr>
            <a:r>
              <a:t>CATEGORÍAS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89136" y="1755648"/>
            <a:ext cx="2240280" cy="475488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2500" b="1">
                <a:solidFill>
                  <a:srgbClr val="E69B28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89136" y="2304288"/>
            <a:ext cx="2240280" cy="34747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000" b="0">
                <a:solidFill>
                  <a:srgbClr val="1E2B3C"/>
                </a:solidFill>
                <a:latin typeface="Aptos"/>
              </a:defRPr>
            </a:pPr>
            <a:r>
              <a:t>Tipos de incidente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24612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E2B3C"/>
                </a:solidFill>
                <a:latin typeface="Aptos"/>
              </a:defRPr>
            </a:pPr>
            <a:r>
              <a:t>•  Entrada principal: descripción textual del incidente.</a:t>
            </a:r>
          </a:p>
          <a:p>
            <a:pPr>
              <a:spcAft>
                <a:spcPts val="1200"/>
              </a:spcAft>
              <a:defRPr sz="1700">
                <a:solidFill>
                  <a:srgbClr val="1E2B3C"/>
                </a:solidFill>
                <a:latin typeface="Aptos"/>
              </a:defRPr>
            </a:pPr>
            <a:r>
              <a:t>•  Objetivo principal: categoría del ticket.</a:t>
            </a:r>
          </a:p>
          <a:p>
            <a:pPr>
              <a:spcAft>
                <a:spcPts val="1200"/>
              </a:spcAft>
              <a:defRPr sz="1700">
                <a:solidFill>
                  <a:srgbClr val="1E2B3C"/>
                </a:solidFill>
                <a:latin typeface="Aptos"/>
              </a:defRPr>
            </a:pPr>
            <a:r>
              <a:t>•  Impacto, urgencia, prioridad y tiempo de resolución: contexto para análisis.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806440"/>
            <a:ext cx="10058400" cy="32004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300" b="1">
                <a:solidFill>
                  <a:srgbClr val="BE4141"/>
                </a:solidFill>
                <a:latin typeface="Aptos"/>
              </a:defRPr>
            </a:pPr>
            <a:r>
              <a:t>Importante: son datos sintéticos, no tickets reales de una organización.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64592"/>
            <a:ext cx="5486400" cy="22860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900" b="1">
                <a:solidFill>
                  <a:srgbClr val="1D68BE"/>
                </a:solidFill>
                <a:latin typeface="Aptos"/>
              </a:defRPr>
            </a:pPr>
            <a:r>
              <a:t>03 •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50292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2700" b="1">
                <a:solidFill>
                  <a:srgbClr val="0D1B34"/>
                </a:solidFill>
                <a:latin typeface="Aptos"/>
              </a:defRPr>
            </a:pPr>
            <a:r>
              <a:t>Qué encontramos al analizar los datos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987552"/>
            <a:ext cx="1005840" cy="45720"/>
          </a:xfrm>
          <a:prstGeom prst="rect">
            <a:avLst/>
          </a:prstGeom>
          <a:solidFill>
            <a:srgbClr val="1D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537960"/>
            <a:ext cx="10972800" cy="16459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800" b="0">
                <a:solidFill>
                  <a:srgbClr val="5F7084"/>
                </a:solidFill>
                <a:latin typeface="Aptos"/>
              </a:defRPr>
            </a:pPr>
            <a:r>
              <a:t>IT-AI Classifier • Entregable 7 • 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3429000" cy="1645920"/>
          </a:xfrm>
          <a:prstGeom prst="roundRect">
            <a:avLst/>
          </a:prstGeom>
          <a:solidFill>
            <a:srgbClr val="F1F6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417320"/>
            <a:ext cx="73152" cy="1645920"/>
          </a:xfrm>
          <a:prstGeom prst="rect">
            <a:avLst/>
          </a:prstGeom>
          <a:solidFill>
            <a:srgbClr val="1D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554480"/>
            <a:ext cx="3108960" cy="34747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600" b="1">
                <a:solidFill>
                  <a:srgbClr val="0D1B34"/>
                </a:solidFill>
                <a:latin typeface="Aptos"/>
              </a:defRPr>
            </a:pPr>
            <a:r>
              <a:t>Calidad básica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84248"/>
            <a:ext cx="3108960" cy="100584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300" b="0">
                <a:solidFill>
                  <a:srgbClr val="1E2B3C"/>
                </a:solidFill>
                <a:latin typeface="Aptos"/>
              </a:defRPr>
            </a:pPr>
            <a:r>
              <a:t>No se identificaron duplicados completos ni ticket_id duplicados.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17320"/>
            <a:ext cx="3429000" cy="1645920"/>
          </a:xfrm>
          <a:prstGeom prst="roundRect">
            <a:avLst/>
          </a:prstGeom>
          <a:solidFill>
            <a:srgbClr val="F1F6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417320"/>
            <a:ext cx="73152" cy="1645920"/>
          </a:xfrm>
          <a:prstGeom prst="rect">
            <a:avLst/>
          </a:prstGeom>
          <a:solidFill>
            <a:srgbClr val="2A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554480"/>
            <a:ext cx="3108960" cy="34747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600" b="1">
                <a:solidFill>
                  <a:srgbClr val="0D1B34"/>
                </a:solidFill>
                <a:latin typeface="Aptos"/>
              </a:defRPr>
            </a:pPr>
            <a:r>
              <a:t>Distribución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984248"/>
            <a:ext cx="3108960" cy="100584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300" b="0">
                <a:solidFill>
                  <a:srgbClr val="1E2B3C"/>
                </a:solidFill>
                <a:latin typeface="Aptos"/>
              </a:defRPr>
            </a:pPr>
            <a:r>
              <a:t>Las categorías tienen volúmenes relativamente cercanos.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417320"/>
            <a:ext cx="3429000" cy="1645920"/>
          </a:xfrm>
          <a:prstGeom prst="roundRect">
            <a:avLst/>
          </a:prstGeom>
          <a:solidFill>
            <a:srgbClr val="F1F6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955279" y="1417320"/>
            <a:ext cx="73152" cy="1645920"/>
          </a:xfrm>
          <a:prstGeom prst="rect">
            <a:avLst/>
          </a:prstGeom>
          <a:solidFill>
            <a:srgbClr val="E69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38159" y="1554480"/>
            <a:ext cx="3108960" cy="34747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600" b="1">
                <a:solidFill>
                  <a:srgbClr val="0D1B34"/>
                </a:solidFill>
                <a:latin typeface="Aptos"/>
              </a:defRPr>
            </a:pPr>
            <a:r>
              <a:t>Limitación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59" y="1984248"/>
            <a:ext cx="3108960" cy="100584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300" b="0">
                <a:solidFill>
                  <a:srgbClr val="1E2B3C"/>
                </a:solidFill>
                <a:latin typeface="Aptos"/>
              </a:defRPr>
            </a:pPr>
            <a:r>
              <a:t>El 100 % de los tickets figura como cumplimiento de SLA.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794760"/>
            <a:ext cx="10241280" cy="118872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2200" b="0">
                <a:solidFill>
                  <a:srgbClr val="1E2B3C"/>
                </a:solidFill>
                <a:latin typeface="Aptos"/>
              </a:defRPr>
            </a:pPr>
            <a:r>
              <a:t>El dataset sirve para probar el prototipo, pero no permite demostrar su rendimiento en producción ni analizar incumplimientos de SLA.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64592"/>
            <a:ext cx="5486400" cy="22860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900" b="1">
                <a:solidFill>
                  <a:srgbClr val="1D68BE"/>
                </a:solidFill>
                <a:latin typeface="Aptos"/>
              </a:defRPr>
            </a:pPr>
            <a:r>
              <a:t>04 • SOLUCIÓN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50292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2700" b="1">
                <a:solidFill>
                  <a:srgbClr val="0D1B34"/>
                </a:solidFill>
                <a:latin typeface="Aptos"/>
              </a:defRPr>
            </a:pPr>
            <a:r>
              <a:t>La solución propuesta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987552"/>
            <a:ext cx="1005840" cy="45720"/>
          </a:xfrm>
          <a:prstGeom prst="rect">
            <a:avLst/>
          </a:prstGeom>
          <a:solidFill>
            <a:srgbClr val="1D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537960"/>
            <a:ext cx="10972800" cy="16459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800" b="0">
                <a:solidFill>
                  <a:srgbClr val="5F7084"/>
                </a:solidFill>
                <a:latin typeface="Aptos"/>
              </a:defRPr>
            </a:pPr>
            <a:r>
              <a:t>IT-AI Classifier • Entregable 7 •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74519"/>
            <a:ext cx="2331720" cy="1874519"/>
          </a:xfrm>
          <a:prstGeom prst="roundRect">
            <a:avLst/>
          </a:prstGeom>
          <a:solidFill>
            <a:srgbClr val="F1F6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874519"/>
            <a:ext cx="73152" cy="1874519"/>
          </a:xfrm>
          <a:prstGeom prst="rect">
            <a:avLst/>
          </a:prstGeom>
          <a:solidFill>
            <a:srgbClr val="1D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011679"/>
            <a:ext cx="2011679" cy="34747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600" b="1">
                <a:solidFill>
                  <a:srgbClr val="0D1B34"/>
                </a:solidFill>
                <a:latin typeface="Aptos"/>
              </a:defRPr>
            </a:pPr>
            <a:r>
              <a:t>Ticket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41448"/>
            <a:ext cx="2011679" cy="1234439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300" b="0">
                <a:solidFill>
                  <a:srgbClr val="1E2B3C"/>
                </a:solidFill>
                <a:latin typeface="Aptos"/>
              </a:defRPr>
            </a:pPr>
            <a:r>
              <a:rPr dirty="0"/>
              <a:t>Descripción del incidente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011680"/>
            <a:ext cx="320040" cy="27432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500" b="1">
                <a:solidFill>
                  <a:srgbClr val="2ABED2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9232" y="2468880"/>
            <a:ext cx="365760" cy="36576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 algn="ctr">
              <a:defRPr sz="2400" b="1">
                <a:solidFill>
                  <a:srgbClr val="1D68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02152" y="1874519"/>
            <a:ext cx="2331720" cy="1874519"/>
          </a:xfrm>
          <a:prstGeom prst="roundRect">
            <a:avLst/>
          </a:prstGeom>
          <a:solidFill>
            <a:srgbClr val="F1F6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502152" y="1874519"/>
            <a:ext cx="73152" cy="1874519"/>
          </a:xfrm>
          <a:prstGeom prst="rect">
            <a:avLst/>
          </a:prstGeom>
          <a:solidFill>
            <a:srgbClr val="1D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85032" y="2011679"/>
            <a:ext cx="2011679" cy="34747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600" b="1">
                <a:solidFill>
                  <a:srgbClr val="0D1B34"/>
                </a:solidFill>
                <a:latin typeface="Aptos"/>
              </a:defRPr>
            </a:pPr>
            <a:r>
              <a:t>Modelo 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2441448"/>
            <a:ext cx="2011679" cy="1234439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300" b="0">
                <a:solidFill>
                  <a:srgbClr val="1E2B3C"/>
                </a:solidFill>
                <a:latin typeface="Aptos"/>
              </a:defRPr>
            </a:pPr>
            <a:r>
              <a:t>Analiza patrones de texto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6744" y="2011680"/>
            <a:ext cx="320040" cy="27432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500" b="1">
                <a:solidFill>
                  <a:srgbClr val="2ABED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7024" y="2468880"/>
            <a:ext cx="365760" cy="36576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 algn="ctr">
              <a:defRPr sz="2400" b="1">
                <a:solidFill>
                  <a:srgbClr val="1D68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9944" y="1874519"/>
            <a:ext cx="2331720" cy="1874519"/>
          </a:xfrm>
          <a:prstGeom prst="roundRect">
            <a:avLst/>
          </a:prstGeom>
          <a:solidFill>
            <a:srgbClr val="F1F6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9944" y="1874519"/>
            <a:ext cx="73152" cy="1874519"/>
          </a:xfrm>
          <a:prstGeom prst="rect">
            <a:avLst/>
          </a:prstGeom>
          <a:solidFill>
            <a:srgbClr val="1D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92824" y="2011679"/>
            <a:ext cx="2011679" cy="34747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600" b="1">
                <a:solidFill>
                  <a:srgbClr val="0D1B34"/>
                </a:solidFill>
                <a:latin typeface="Aptos"/>
              </a:defRPr>
            </a:pPr>
            <a:r>
              <a:t>Sugerencia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92824" y="2441448"/>
            <a:ext cx="2011679" cy="1234439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300" b="0">
                <a:solidFill>
                  <a:srgbClr val="1E2B3C"/>
                </a:solidFill>
                <a:latin typeface="Aptos"/>
              </a:defRPr>
            </a:pPr>
            <a:r>
              <a:t>Propone una categoría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74536" y="2011680"/>
            <a:ext cx="320040" cy="27432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500" b="1">
                <a:solidFill>
                  <a:srgbClr val="2ABED2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14816" y="2468880"/>
            <a:ext cx="365760" cy="36576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 algn="ctr">
              <a:defRPr sz="2400" b="1">
                <a:solidFill>
                  <a:srgbClr val="1D68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17736" y="1874519"/>
            <a:ext cx="2331720" cy="1874519"/>
          </a:xfrm>
          <a:prstGeom prst="roundRect">
            <a:avLst/>
          </a:prstGeom>
          <a:solidFill>
            <a:srgbClr val="F1F6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317736" y="1874519"/>
            <a:ext cx="73152" cy="1874519"/>
          </a:xfrm>
          <a:prstGeom prst="rect">
            <a:avLst/>
          </a:prstGeom>
          <a:solidFill>
            <a:srgbClr val="1B8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500616" y="2011679"/>
            <a:ext cx="2011679" cy="34747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600" b="1">
                <a:solidFill>
                  <a:srgbClr val="0D1B34"/>
                </a:solidFill>
                <a:latin typeface="Aptos"/>
              </a:defRPr>
            </a:pPr>
            <a:r>
              <a:t>Técnico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0616" y="2441448"/>
            <a:ext cx="2011679" cy="1234439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300" b="0">
                <a:solidFill>
                  <a:srgbClr val="1E2B3C"/>
                </a:solidFill>
                <a:latin typeface="Aptos"/>
              </a:defRPr>
            </a:pPr>
            <a:r>
              <a:t>Confirma o corrige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82328" y="2011680"/>
            <a:ext cx="320040" cy="27432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500" b="1">
                <a:solidFill>
                  <a:srgbClr val="2ABED2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617720"/>
            <a:ext cx="10241280" cy="59436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 algn="ctr">
              <a:defRPr sz="2200" b="1">
                <a:solidFill>
                  <a:srgbClr val="1B8C62"/>
                </a:solidFill>
                <a:latin typeface="Aptos"/>
              </a:defRPr>
            </a:pPr>
            <a:r>
              <a:t>La IA recomienda; la decisión final sigue en manos del técnico.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64592"/>
            <a:ext cx="5486400" cy="22860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900" b="1">
                <a:solidFill>
                  <a:srgbClr val="1D68BE"/>
                </a:solidFill>
                <a:latin typeface="Aptos"/>
              </a:defRPr>
            </a:pPr>
            <a:r>
              <a:t>04 • SOLUCIÓN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50292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2700" b="1">
                <a:solidFill>
                  <a:srgbClr val="0D1B34"/>
                </a:solidFill>
                <a:latin typeface="Aptos"/>
              </a:defRPr>
            </a:pPr>
            <a:r>
              <a:t>¿Cómo funciona sin tecnicismos?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987552"/>
            <a:ext cx="1005840" cy="45720"/>
          </a:xfrm>
          <a:prstGeom prst="rect">
            <a:avLst/>
          </a:prstGeom>
          <a:solidFill>
            <a:srgbClr val="1D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537960"/>
            <a:ext cx="10972800" cy="16459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800" b="0">
                <a:solidFill>
                  <a:srgbClr val="5F7084"/>
                </a:solidFill>
                <a:latin typeface="Aptos"/>
              </a:defRPr>
            </a:pPr>
            <a:r>
              <a:t>IT-AI Classifier • Entregable 7 •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3429000" cy="2011680"/>
          </a:xfrm>
          <a:prstGeom prst="roundRect">
            <a:avLst/>
          </a:prstGeom>
          <a:solidFill>
            <a:srgbClr val="F1F6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463040"/>
            <a:ext cx="73152" cy="2011680"/>
          </a:xfrm>
          <a:prstGeom prst="rect">
            <a:avLst/>
          </a:prstGeom>
          <a:solidFill>
            <a:srgbClr val="1D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600200"/>
            <a:ext cx="3108960" cy="34747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600" b="1">
                <a:solidFill>
                  <a:srgbClr val="0D1B34"/>
                </a:solidFill>
                <a:latin typeface="Aptos"/>
              </a:defRPr>
            </a:pPr>
            <a:r>
              <a:t>Aprende patrones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3108960" cy="137160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300" b="0">
                <a:solidFill>
                  <a:srgbClr val="1E2B3C"/>
                </a:solidFill>
                <a:latin typeface="Aptos"/>
              </a:defRPr>
            </a:pPr>
            <a:r>
              <a:t>Identifica palabras y frases frecuentes en tickets ya categorizados.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63040"/>
            <a:ext cx="3429000" cy="2011680"/>
          </a:xfrm>
          <a:prstGeom prst="roundRect">
            <a:avLst/>
          </a:prstGeom>
          <a:solidFill>
            <a:srgbClr val="F1F6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463040"/>
            <a:ext cx="73152" cy="2011680"/>
          </a:xfrm>
          <a:prstGeom prst="rect">
            <a:avLst/>
          </a:prstGeom>
          <a:solidFill>
            <a:srgbClr val="2A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600200"/>
            <a:ext cx="3108960" cy="34747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600" b="1">
                <a:solidFill>
                  <a:srgbClr val="0D1B34"/>
                </a:solidFill>
                <a:latin typeface="Aptos"/>
              </a:defRPr>
            </a:pPr>
            <a:r>
              <a:t>Compara el texto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029968"/>
            <a:ext cx="3108960" cy="137160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300" b="0">
                <a:solidFill>
                  <a:srgbClr val="1E2B3C"/>
                </a:solidFill>
                <a:latin typeface="Aptos"/>
              </a:defRPr>
            </a:pPr>
            <a:r>
              <a:t>Calcula qué categoría se ajusta mejor a esos patrones.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463040"/>
            <a:ext cx="3429000" cy="2011680"/>
          </a:xfrm>
          <a:prstGeom prst="roundRect">
            <a:avLst/>
          </a:prstGeom>
          <a:solidFill>
            <a:srgbClr val="F1F6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955279" y="1463040"/>
            <a:ext cx="73152" cy="2011680"/>
          </a:xfrm>
          <a:prstGeom prst="rect">
            <a:avLst/>
          </a:prstGeom>
          <a:solidFill>
            <a:srgbClr val="1B8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38159" y="1600200"/>
            <a:ext cx="3108960" cy="34747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600" b="1">
                <a:solidFill>
                  <a:srgbClr val="0D1B34"/>
                </a:solidFill>
                <a:latin typeface="Aptos"/>
              </a:defRPr>
            </a:pPr>
            <a:r>
              <a:t>Presenta sugerencia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59" y="2029968"/>
            <a:ext cx="3108960" cy="137160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300" b="0">
                <a:solidFill>
                  <a:srgbClr val="1E2B3C"/>
                </a:solidFill>
                <a:latin typeface="Aptos"/>
              </a:defRPr>
            </a:pPr>
            <a:r>
              <a:t>El técnico revisa la propuesta y conserva el control.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60520"/>
            <a:ext cx="10058400" cy="73152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700" b="0">
                <a:solidFill>
                  <a:srgbClr val="5F7084"/>
                </a:solidFill>
                <a:latin typeface="Aptos"/>
              </a:defRPr>
            </a:pPr>
            <a:r>
              <a:rPr dirty="0" err="1"/>
              <a:t>Tecnología</a:t>
            </a:r>
            <a:r>
              <a:rPr dirty="0"/>
              <a:t>: TF-IDF + Regresión Logística. Lo </a:t>
            </a:r>
            <a:r>
              <a:rPr dirty="0" err="1"/>
              <a:t>importante</a:t>
            </a:r>
            <a:r>
              <a:rPr dirty="0"/>
              <a:t> es que aprende </a:t>
            </a:r>
            <a:r>
              <a:rPr dirty="0" err="1"/>
              <a:t>patrones</a:t>
            </a:r>
            <a:r>
              <a:rPr dirty="0"/>
              <a:t> de texto para </a:t>
            </a:r>
            <a:r>
              <a:rPr dirty="0" err="1"/>
              <a:t>sugerir</a:t>
            </a:r>
            <a:r>
              <a:rPr dirty="0"/>
              <a:t> una categoría.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64592"/>
            <a:ext cx="5486400" cy="22860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900" b="1">
                <a:solidFill>
                  <a:srgbClr val="1D68BE"/>
                </a:solidFill>
                <a:latin typeface="Aptos"/>
              </a:defRPr>
            </a:pPr>
            <a:r>
              <a:t>04 • SOLUCIÓN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50292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2700" b="1">
                <a:solidFill>
                  <a:srgbClr val="0D1B34"/>
                </a:solidFill>
                <a:latin typeface="Aptos"/>
              </a:defRPr>
            </a:pPr>
            <a:r>
              <a:rPr dirty="0"/>
              <a:t>Qué </a:t>
            </a:r>
            <a:r>
              <a:rPr dirty="0" err="1"/>
              <a:t>hace</a:t>
            </a:r>
            <a:r>
              <a:rPr dirty="0"/>
              <a:t> y qué no </a:t>
            </a:r>
            <a:r>
              <a:rPr dirty="0" err="1"/>
              <a:t>hace</a:t>
            </a:r>
            <a:r>
              <a:rPr dirty="0"/>
              <a:t> el prototipo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987552"/>
            <a:ext cx="1005840" cy="45720"/>
          </a:xfrm>
          <a:prstGeom prst="rect">
            <a:avLst/>
          </a:prstGeom>
          <a:solidFill>
            <a:srgbClr val="1D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537960"/>
            <a:ext cx="10972800" cy="16459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800" b="0">
                <a:solidFill>
                  <a:srgbClr val="5F7084"/>
                </a:solidFill>
                <a:latin typeface="Aptos"/>
              </a:defRPr>
            </a:pPr>
            <a:r>
              <a:rPr dirty="0"/>
              <a:t>IT-AI Classifier • Entregable 7 • 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5029200" cy="3200400"/>
          </a:xfrm>
          <a:prstGeom prst="roundRect">
            <a:avLst/>
          </a:prstGeom>
          <a:solidFill>
            <a:srgbClr val="F1F6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417320"/>
            <a:ext cx="73152" cy="3200400"/>
          </a:xfrm>
          <a:prstGeom prst="rect">
            <a:avLst/>
          </a:prstGeom>
          <a:solidFill>
            <a:srgbClr val="1B8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554480"/>
            <a:ext cx="4709160" cy="34747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600" b="1">
                <a:solidFill>
                  <a:srgbClr val="0D1B34"/>
                </a:solidFill>
                <a:latin typeface="Aptos"/>
              </a:defRPr>
            </a:pPr>
            <a:r>
              <a:t>Sí hace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84248"/>
            <a:ext cx="4709160" cy="256032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300" b="0">
                <a:solidFill>
                  <a:srgbClr val="1E2B3C"/>
                </a:solidFill>
                <a:latin typeface="Aptos"/>
              </a:defRPr>
            </a:pPr>
            <a:r>
              <a:t>• Recibe descripción textual.</a:t>
            </a:r>
            <a:br/>
            <a:r>
              <a:t>• Sugiere una de 8 categorías.</a:t>
            </a:r>
            <a:br/>
            <a:r>
              <a:t>• Permite medir resultados y errores.</a:t>
            </a:r>
            <a:br/>
            <a:r>
              <a:t>• Apoya la clasificación inicial.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029200" cy="3200400"/>
          </a:xfrm>
          <a:prstGeom prst="roundRect">
            <a:avLst/>
          </a:prstGeom>
          <a:solidFill>
            <a:srgbClr val="F1F6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73152" cy="3200400"/>
          </a:xfrm>
          <a:prstGeom prst="rect">
            <a:avLst/>
          </a:prstGeom>
          <a:solidFill>
            <a:srgbClr val="E69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554480"/>
            <a:ext cx="4709160" cy="34747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600" b="1">
                <a:solidFill>
                  <a:srgbClr val="0D1B34"/>
                </a:solidFill>
                <a:latin typeface="Aptos"/>
              </a:defRPr>
            </a:pPr>
            <a:r>
              <a:t>Todavía no demuestra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984248"/>
            <a:ext cx="4709160" cy="256032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300" b="0">
                <a:solidFill>
                  <a:srgbClr val="1E2B3C"/>
                </a:solidFill>
                <a:latin typeface="Aptos"/>
              </a:defRPr>
            </a:pPr>
            <a:r>
              <a:t>• Rendimiento con tickets reales.</a:t>
            </a:r>
            <a:br/>
            <a:r>
              <a:t>• Predicción de prioridad validada.</a:t>
            </a:r>
            <a:br/>
            <a:r>
              <a:t>• Mejora real de SLA.</a:t>
            </a:r>
            <a:br/>
            <a:r>
              <a:t>• Rentabilidad confirmada.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57800"/>
            <a:ext cx="10058400" cy="41148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 algn="ctr">
              <a:defRPr sz="2000" b="1">
                <a:solidFill>
                  <a:srgbClr val="0D1B34"/>
                </a:solidFill>
                <a:latin typeface="Aptos"/>
              </a:defRPr>
            </a:pPr>
            <a:r>
              <a:t>Es un prototipo académico y requiere un piloto antes de producción.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AF1C4D-27AA-909D-58A3-D224EEFD1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C8C000-B1F8-FAE8-7A2B-7BE50C28D4AB}"/>
              </a:ext>
            </a:extLst>
          </p:cNvPr>
          <p:cNvSpPr txBox="1"/>
          <p:nvPr/>
        </p:nvSpPr>
        <p:spPr>
          <a:xfrm>
            <a:off x="640080" y="164592"/>
            <a:ext cx="5486400" cy="22860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900" b="1">
                <a:solidFill>
                  <a:srgbClr val="1D68BE"/>
                </a:solidFill>
                <a:latin typeface="Aptos"/>
              </a:defRPr>
            </a:pPr>
            <a:r>
              <a:t>04 • SOLUCIÓN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142A7F-82E6-635E-ED8A-97CB5DC7C86D}"/>
              </a:ext>
            </a:extLst>
          </p:cNvPr>
          <p:cNvSpPr txBox="1"/>
          <p:nvPr/>
        </p:nvSpPr>
        <p:spPr>
          <a:xfrm>
            <a:off x="640080" y="6537960"/>
            <a:ext cx="10972800" cy="20621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800" b="0">
                <a:solidFill>
                  <a:srgbClr val="5F7084"/>
                </a:solidFill>
                <a:latin typeface="Aptos"/>
              </a:defRPr>
            </a:pPr>
            <a:r>
              <a:rPr dirty="0"/>
              <a:t>IT-AI Classifier • Entregable 7 • </a:t>
            </a:r>
            <a:r>
              <a:rPr lang="es-CO" dirty="0"/>
              <a:t>10</a:t>
            </a:r>
            <a:endParaRPr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E10962-C71B-CE15-8288-36FC841BBD25}"/>
              </a:ext>
            </a:extLst>
          </p:cNvPr>
          <p:cNvSpPr/>
          <p:nvPr/>
        </p:nvSpPr>
        <p:spPr>
          <a:xfrm>
            <a:off x="786384" y="1417320"/>
            <a:ext cx="73152" cy="3200400"/>
          </a:xfrm>
          <a:prstGeom prst="rect">
            <a:avLst/>
          </a:prstGeom>
          <a:solidFill>
            <a:srgbClr val="1B8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2">
            <a:extLst>
              <a:ext uri="{FF2B5EF4-FFF2-40B4-BE49-F238E27FC236}">
                <a16:creationId xmlns:a16="http://schemas.microsoft.com/office/drawing/2014/main" id="{05A739A9-1A60-4240-55A1-BC2901403247}"/>
              </a:ext>
            </a:extLst>
          </p:cNvPr>
          <p:cNvSpPr txBox="1"/>
          <p:nvPr/>
        </p:nvSpPr>
        <p:spPr>
          <a:xfrm>
            <a:off x="640080" y="438912"/>
            <a:ext cx="10972800" cy="513987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2000" b="1">
                <a:solidFill>
                  <a:srgbClr val="0D1B34"/>
                </a:solidFill>
                <a:latin typeface="Aptos"/>
              </a:defRPr>
            </a:pPr>
            <a:r>
              <a:rPr lang="es-ES" sz="2800" b="1" dirty="0">
                <a:solidFill>
                  <a:srgbClr val="0D1B34"/>
                </a:solidFill>
                <a:latin typeface="Aptos"/>
              </a:rPr>
              <a:t>Demostración en vivo del prototipo</a:t>
            </a:r>
            <a:endParaRPr lang="es-ES" sz="28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C9F24E8-4C42-CB78-3BD7-F5B0C0B140FE}"/>
              </a:ext>
            </a:extLst>
          </p:cNvPr>
          <p:cNvSpPr txBox="1"/>
          <p:nvPr/>
        </p:nvSpPr>
        <p:spPr>
          <a:xfrm>
            <a:off x="3048000" y="4960295"/>
            <a:ext cx="6096000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s-CO" sz="2000" dirty="0"/>
              <a:t>Duración estimada: 3–5 minutos.</a:t>
            </a:r>
          </a:p>
          <a:p>
            <a:pPr lvl="0" algn="ctr"/>
            <a:r>
              <a:rPr lang="es-CO" sz="2000" dirty="0"/>
              <a:t>Herramienta: Visual Studio.</a:t>
            </a:r>
          </a:p>
          <a:p>
            <a:pPr lvl="0"/>
            <a:endParaRPr lang="es-CO" sz="19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9F3C8AA-A5B8-D627-6E84-06096C03F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716" y="1259232"/>
            <a:ext cx="8552091" cy="3441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7046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64592"/>
            <a:ext cx="5486400" cy="22860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900" b="1">
                <a:solidFill>
                  <a:srgbClr val="1D68BE"/>
                </a:solidFill>
                <a:latin typeface="Aptos"/>
              </a:defRPr>
            </a:pPr>
            <a:r>
              <a:t>05 • 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50292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2700" b="1">
                <a:solidFill>
                  <a:srgbClr val="0D1B34"/>
                </a:solidFill>
                <a:latin typeface="Aptos"/>
              </a:defRPr>
            </a:pPr>
            <a:r>
              <a:t>Resultados del modelo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987552"/>
            <a:ext cx="1005840" cy="45720"/>
          </a:xfrm>
          <a:prstGeom prst="rect">
            <a:avLst/>
          </a:prstGeom>
          <a:solidFill>
            <a:srgbClr val="1D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537960"/>
            <a:ext cx="10972800" cy="20621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800" b="0">
                <a:solidFill>
                  <a:srgbClr val="5F7084"/>
                </a:solidFill>
                <a:latin typeface="Aptos"/>
              </a:defRPr>
            </a:pPr>
            <a:r>
              <a:rPr dirty="0"/>
              <a:t>IT-AI Classifier • Entregable 7 • 1</a:t>
            </a:r>
            <a:r>
              <a:rPr lang="es-CO" dirty="0"/>
              <a:t>1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914400" y="1508760"/>
            <a:ext cx="2834640" cy="1417320"/>
          </a:xfrm>
          <a:prstGeom prst="roundRect">
            <a:avLst/>
          </a:prstGeom>
          <a:solidFill>
            <a:srgbClr val="F1F6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42416" y="1618488"/>
            <a:ext cx="2606040" cy="22860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900" b="1">
                <a:solidFill>
                  <a:srgbClr val="5F7084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" y="1892807"/>
            <a:ext cx="2606040" cy="475488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2500" b="1">
                <a:solidFill>
                  <a:srgbClr val="1B8C62"/>
                </a:solidFill>
                <a:latin typeface="Aptos"/>
              </a:defRPr>
            </a:pPr>
            <a:r>
              <a:t>98 %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" y="2441448"/>
            <a:ext cx="2606040" cy="34747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000" b="0">
                <a:solidFill>
                  <a:srgbClr val="1E2B3C"/>
                </a:solidFill>
                <a:latin typeface="Aptos"/>
              </a:defRPr>
            </a:pPr>
            <a:r>
              <a:t>200 tickets sintéticos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508760"/>
            <a:ext cx="2834640" cy="1417320"/>
          </a:xfrm>
          <a:prstGeom prst="roundRect">
            <a:avLst/>
          </a:prstGeom>
          <a:solidFill>
            <a:srgbClr val="F1F6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91455" y="1618488"/>
            <a:ext cx="2606040" cy="22860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900" b="1">
                <a:solidFill>
                  <a:srgbClr val="5F7084"/>
                </a:solidFill>
                <a:latin typeface="Aptos"/>
              </a:defRPr>
            </a:pPr>
            <a:r>
              <a:t>PRECISION MACRO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91455" y="1892807"/>
            <a:ext cx="2606040" cy="475488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2500" b="1">
                <a:solidFill>
                  <a:srgbClr val="1D68BE"/>
                </a:solidFill>
                <a:latin typeface="Aptos"/>
              </a:defRPr>
            </a:pPr>
            <a:r>
              <a:t>98,21 %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91455" y="2441448"/>
            <a:ext cx="2606040" cy="34747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000" b="0">
                <a:solidFill>
                  <a:srgbClr val="1E2B3C"/>
                </a:solidFill>
                <a:latin typeface="Aptos"/>
              </a:defRPr>
            </a:pPr>
            <a:r>
              <a:t>Promedio entre categorías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1508760"/>
            <a:ext cx="2834640" cy="1417320"/>
          </a:xfrm>
          <a:prstGeom prst="roundRect">
            <a:avLst/>
          </a:prstGeom>
          <a:solidFill>
            <a:srgbClr val="F1F6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40496" y="1618488"/>
            <a:ext cx="2606040" cy="22860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900" b="1">
                <a:solidFill>
                  <a:srgbClr val="5F7084"/>
                </a:solidFill>
                <a:latin typeface="Aptos"/>
              </a:defRPr>
            </a:pPr>
            <a:r>
              <a:t>RECALL MACRO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0496" y="1892807"/>
            <a:ext cx="2606040" cy="475488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2500" b="1">
                <a:solidFill>
                  <a:srgbClr val="2ABED2"/>
                </a:solidFill>
                <a:latin typeface="Aptos"/>
              </a:defRPr>
            </a:pPr>
            <a:r>
              <a:t>97,92 %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0496" y="2441448"/>
            <a:ext cx="2606040" cy="34747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000" b="0">
                <a:solidFill>
                  <a:srgbClr val="1E2B3C"/>
                </a:solidFill>
                <a:latin typeface="Aptos"/>
              </a:defRPr>
            </a:pPr>
            <a:r>
              <a:t>Promedio entre categorías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703320"/>
            <a:ext cx="10149840" cy="109728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2200" b="0">
                <a:solidFill>
                  <a:srgbClr val="1E2B3C"/>
                </a:solidFill>
                <a:latin typeface="Aptos"/>
              </a:defRPr>
            </a:pPr>
            <a:r>
              <a:t>El resultado es prometedor dentro del conjunto sintético evaluado. No significa que el modelo vaya a acertar el 98 % de los tickets reales.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303520"/>
            <a:ext cx="5486400" cy="32004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400" b="1">
                <a:solidFill>
                  <a:srgbClr val="5F7084"/>
                </a:solidFill>
                <a:latin typeface="Aptos"/>
              </a:defRPr>
            </a:pPr>
            <a:r>
              <a:t>F1 macro reportado: 97,90 %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64592"/>
            <a:ext cx="5486400" cy="22860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900" b="1">
                <a:solidFill>
                  <a:srgbClr val="1D68BE"/>
                </a:solidFill>
                <a:latin typeface="Aptos"/>
              </a:defRPr>
            </a:pPr>
            <a:r>
              <a:t>05 • 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50292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2700" b="1">
                <a:solidFill>
                  <a:srgbClr val="0D1B34"/>
                </a:solidFill>
                <a:latin typeface="Aptos"/>
              </a:defRPr>
            </a:pPr>
            <a:r>
              <a:t>También analizamos los errores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987552"/>
            <a:ext cx="1005840" cy="45720"/>
          </a:xfrm>
          <a:prstGeom prst="rect">
            <a:avLst/>
          </a:prstGeom>
          <a:solidFill>
            <a:srgbClr val="1D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537960"/>
            <a:ext cx="10972800" cy="20621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800" b="0">
                <a:solidFill>
                  <a:srgbClr val="5F7084"/>
                </a:solidFill>
                <a:latin typeface="Aptos"/>
              </a:defRPr>
            </a:pPr>
            <a:r>
              <a:rPr dirty="0"/>
              <a:t>IT-AI Classifier • Entregable 7 • 1</a:t>
            </a:r>
            <a:r>
              <a:rPr lang="es-CO" dirty="0"/>
              <a:t>2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914400" y="1554480"/>
            <a:ext cx="2743200" cy="1417320"/>
          </a:xfrm>
          <a:prstGeom prst="roundRect">
            <a:avLst/>
          </a:prstGeom>
          <a:solidFill>
            <a:srgbClr val="F1F6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42416" y="1664207"/>
            <a:ext cx="2514600" cy="22860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900" b="1">
                <a:solidFill>
                  <a:srgbClr val="5F7084"/>
                </a:solidFill>
                <a:latin typeface="Aptos"/>
              </a:defRPr>
            </a:pPr>
            <a:r>
              <a:t>ERRORES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" y="1938528"/>
            <a:ext cx="2514600" cy="475488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2500" b="1">
                <a:solidFill>
                  <a:srgbClr val="BE4141"/>
                </a:solidFill>
                <a:latin typeface="Aptos"/>
              </a:defRPr>
            </a:pPr>
            <a:r>
              <a:t>4 / 200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" y="2487168"/>
            <a:ext cx="2514600" cy="34747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000" b="0">
                <a:solidFill>
                  <a:srgbClr val="1E2B3C"/>
                </a:solidFill>
                <a:latin typeface="Aptos"/>
              </a:defRPr>
            </a:pPr>
            <a:r>
              <a:t>2 % de la prueba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1508760"/>
            <a:ext cx="3154680" cy="1828800"/>
          </a:xfrm>
          <a:prstGeom prst="roundRect">
            <a:avLst/>
          </a:prstGeom>
          <a:solidFill>
            <a:srgbClr val="F1F6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800" y="1508760"/>
            <a:ext cx="73152" cy="1828800"/>
          </a:xfrm>
          <a:prstGeom prst="rect">
            <a:avLst/>
          </a:prstGeom>
          <a:solidFill>
            <a:srgbClr val="E69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97680" y="1645919"/>
            <a:ext cx="2834640" cy="34747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600" b="1">
                <a:solidFill>
                  <a:srgbClr val="0D1B34"/>
                </a:solidFill>
                <a:latin typeface="Aptos"/>
              </a:defRPr>
            </a:pPr>
            <a:r>
              <a:t>Patrón observado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075688"/>
            <a:ext cx="2834640" cy="118872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300" b="0">
                <a:solidFill>
                  <a:srgbClr val="1E2B3C"/>
                </a:solidFill>
                <a:latin typeface="Aptos"/>
              </a:defRPr>
            </a:pPr>
            <a:r>
              <a:t>Cuatro tickets etiquetados Hardware fueron predichos como Impresoras.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1508760"/>
            <a:ext cx="3474720" cy="1828800"/>
          </a:xfrm>
          <a:prstGeom prst="roundRect">
            <a:avLst/>
          </a:prstGeom>
          <a:solidFill>
            <a:srgbClr val="F1F6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635240" y="1508760"/>
            <a:ext cx="73152" cy="1828800"/>
          </a:xfrm>
          <a:prstGeom prst="rect">
            <a:avLst/>
          </a:prstGeom>
          <a:solidFill>
            <a:srgbClr val="1D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18119" y="1645919"/>
            <a:ext cx="3154679" cy="34747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600" b="1">
                <a:solidFill>
                  <a:srgbClr val="0D1B34"/>
                </a:solidFill>
                <a:latin typeface="Aptos"/>
              </a:defRPr>
            </a:pPr>
            <a:r>
              <a:t>Acción recomendada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19" y="2075688"/>
            <a:ext cx="3154679" cy="118872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300" b="0">
                <a:solidFill>
                  <a:srgbClr val="1E2B3C"/>
                </a:solidFill>
                <a:latin typeface="Aptos"/>
              </a:defRPr>
            </a:pPr>
            <a:r>
              <a:t>Revisar etiquetas y definir límites claros entre categorías.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069080"/>
            <a:ext cx="10241280" cy="100584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2000" b="1">
                <a:solidFill>
                  <a:srgbClr val="0D1B34"/>
                </a:solidFill>
                <a:latin typeface="Aptos"/>
              </a:defRPr>
            </a:pPr>
            <a:r>
              <a:t>Primero hay que comprobar si la etiqueta original es correcta; no se debe asumir automáticamente que el modelo es el único responsable.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64592"/>
            <a:ext cx="5486400" cy="22860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900" b="1">
                <a:solidFill>
                  <a:srgbClr val="1D68BE"/>
                </a:solidFill>
                <a:latin typeface="Aptos"/>
              </a:defRPr>
            </a:pPr>
            <a:r>
              <a:t>05 • 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438912"/>
            <a:ext cx="10972800" cy="50292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2700" b="1">
                <a:solidFill>
                  <a:srgbClr val="0D1B34"/>
                </a:solidFill>
                <a:latin typeface="Aptos"/>
              </a:defRPr>
            </a:pPr>
            <a:r>
              <a:rPr lang="es-CO" sz="2700" b="1" dirty="0">
                <a:solidFill>
                  <a:srgbClr val="0D1B34"/>
                </a:solidFill>
                <a:latin typeface="Aptos"/>
              </a:rPr>
              <a:t>Evaluación de una muestra de 30 tickets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658368" y="987552"/>
            <a:ext cx="1005840" cy="45720"/>
          </a:xfrm>
          <a:prstGeom prst="rect">
            <a:avLst/>
          </a:prstGeom>
          <a:solidFill>
            <a:srgbClr val="1D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537960"/>
            <a:ext cx="10972800" cy="20621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800" b="0">
                <a:solidFill>
                  <a:srgbClr val="5F7084"/>
                </a:solidFill>
                <a:latin typeface="Aptos"/>
              </a:defRPr>
            </a:pPr>
            <a:r>
              <a:rPr dirty="0"/>
              <a:t>IT-AI Classifier • Entregable 7 • 1</a:t>
            </a:r>
            <a:r>
              <a:rPr lang="es-CO" dirty="0"/>
              <a:t>3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3431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E2B3C"/>
                </a:solidFill>
                <a:latin typeface="Aptos"/>
              </a:defRPr>
            </a:pPr>
            <a:r>
              <a:rPr dirty="0"/>
              <a:t>•  Se preparó una muestra de 30 tickets para revisión por un técnico.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O" sz="1900" b="1" dirty="0">
                <a:latin typeface="Aptos" panose="020B0004020202020204" pitchFamily="34" charset="0"/>
              </a:rPr>
              <a:t>26 clasificaciones correctas:</a:t>
            </a:r>
            <a:r>
              <a:rPr lang="es-CO" sz="1900" dirty="0">
                <a:latin typeface="Aptos" panose="020B0004020202020204" pitchFamily="34" charset="0"/>
              </a:rPr>
              <a:t> 86,67 % de coincidencia con las etiquetas del dataset.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O" sz="1900" b="1" dirty="0">
                <a:latin typeface="Aptos" panose="020B0004020202020204" pitchFamily="34" charset="0"/>
              </a:rPr>
              <a:t>4 clasificaciones incorrectas:</a:t>
            </a:r>
            <a:r>
              <a:rPr lang="es-CO" sz="1900" dirty="0">
                <a:latin typeface="Aptos" panose="020B0004020202020204" pitchFamily="34" charset="0"/>
              </a:rPr>
              <a:t> todas corresponden a Hardware predicho como Impresoras.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O" sz="1900" b="1" dirty="0">
                <a:latin typeface="Aptos" panose="020B0004020202020204" pitchFamily="34" charset="0"/>
              </a:rPr>
              <a:t>Hallazgo:</a:t>
            </a:r>
            <a:r>
              <a:rPr lang="es-CO" sz="1900" dirty="0">
                <a:latin typeface="Aptos" panose="020B0004020202020204" pitchFamily="34" charset="0"/>
              </a:rPr>
              <a:t> es necesario revisar la distinción entre ambas categorías y verificar las etiquetas originales.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O" sz="1900" b="1" dirty="0">
                <a:latin typeface="Aptos" panose="020B0004020202020204" pitchFamily="34" charset="0"/>
              </a:rPr>
              <a:t>Limitación:</a:t>
            </a:r>
            <a:r>
              <a:rPr lang="es-CO" sz="1900" dirty="0">
                <a:latin typeface="Aptos" panose="020B0004020202020204" pitchFamily="34" charset="0"/>
              </a:rPr>
              <a:t> la muestra fue seleccionada incluyendo los cuatro errores identificados en el conjunto de prueba; por tanto, su resultado no representa una estimación independiente del rendimiento general.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s-CO" sz="1900" dirty="0">
              <a:latin typeface="Aptos" panose="020B0004020202020204" pitchFamily="34" charset="0"/>
            </a:endParaRPr>
          </a:p>
          <a:p>
            <a:pPr lvl="0"/>
            <a:r>
              <a:rPr lang="es-CO" dirty="0"/>
              <a:t>“La validación por parte de un técnico está pendiente. El 86,67 % corresponde a coincidencia con las etiquetas del dataset, no a una validación humana.”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914400" y="5074920"/>
            <a:ext cx="10058400" cy="822960"/>
          </a:xfrm>
          <a:prstGeom prst="roundRect">
            <a:avLst/>
          </a:prstGeom>
          <a:solidFill>
            <a:srgbClr val="F1F6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4400" y="5074920"/>
            <a:ext cx="73152" cy="822960"/>
          </a:xfrm>
          <a:prstGeom prst="rect">
            <a:avLst/>
          </a:prstGeom>
          <a:solidFill>
            <a:srgbClr val="1B8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5212080"/>
            <a:ext cx="9738360" cy="34747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600" b="1">
                <a:solidFill>
                  <a:srgbClr val="0D1B34"/>
                </a:solidFill>
                <a:latin typeface="Aptos"/>
              </a:defRPr>
            </a:pPr>
            <a:r>
              <a:t>Siguiente paso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641848"/>
            <a:ext cx="9738360" cy="18288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300" b="0">
                <a:solidFill>
                  <a:srgbClr val="1E2B3C"/>
                </a:solidFill>
                <a:latin typeface="Aptos"/>
              </a:defRPr>
            </a:pPr>
            <a:r>
              <a:t>Comparar categoría real, predicción y criterio del técnico; registrar correcciones y causas.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64592"/>
            <a:ext cx="5486400" cy="22860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900" b="1">
                <a:solidFill>
                  <a:srgbClr val="1D68BE"/>
                </a:solidFill>
                <a:latin typeface="Aptos"/>
              </a:defRPr>
            </a:pPr>
            <a:r>
              <a:t>06 • IMPACTO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50292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2700" b="1">
                <a:solidFill>
                  <a:srgbClr val="0D1B34"/>
                </a:solidFill>
                <a:latin typeface="Aptos"/>
              </a:defRPr>
            </a:pPr>
            <a:r>
              <a:t>Impacto potencial en la operación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987552"/>
            <a:ext cx="1005840" cy="45720"/>
          </a:xfrm>
          <a:prstGeom prst="rect">
            <a:avLst/>
          </a:prstGeom>
          <a:solidFill>
            <a:srgbClr val="1D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537960"/>
            <a:ext cx="10972800" cy="329321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800" b="0">
                <a:solidFill>
                  <a:srgbClr val="5F7084"/>
                </a:solidFill>
                <a:latin typeface="Aptos"/>
              </a:defRPr>
            </a:pPr>
            <a:r>
              <a:rPr dirty="0"/>
              <a:t>IT-AI Classifier • Entregable 7 • 1</a:t>
            </a:r>
            <a:r>
              <a:rPr lang="es-CO" dirty="0"/>
              <a:t>4</a:t>
            </a:r>
          </a:p>
          <a:p>
            <a:pPr>
              <a:defRPr sz="800" b="0">
                <a:solidFill>
                  <a:srgbClr val="5F7084"/>
                </a:solidFill>
                <a:latin typeface="Aptos"/>
              </a:defRPr>
            </a:pP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3429000" cy="1828800"/>
          </a:xfrm>
          <a:prstGeom prst="roundRect">
            <a:avLst/>
          </a:prstGeom>
          <a:solidFill>
            <a:srgbClr val="F1F6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463040"/>
            <a:ext cx="73152" cy="1828800"/>
          </a:xfrm>
          <a:prstGeom prst="rect">
            <a:avLst/>
          </a:prstGeom>
          <a:solidFill>
            <a:srgbClr val="1D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600200"/>
            <a:ext cx="3108960" cy="34747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600" b="1">
                <a:solidFill>
                  <a:srgbClr val="0D1B34"/>
                </a:solidFill>
                <a:latin typeface="Aptos"/>
              </a:defRPr>
            </a:pPr>
            <a:r>
              <a:t>Consistencia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3108960" cy="118872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300" b="0">
                <a:solidFill>
                  <a:srgbClr val="1E2B3C"/>
                </a:solidFill>
                <a:latin typeface="Aptos"/>
              </a:defRPr>
            </a:pPr>
            <a:r>
              <a:t>Criterios más uniformes para clasificar incidentes.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63040"/>
            <a:ext cx="3429000" cy="1828800"/>
          </a:xfrm>
          <a:prstGeom prst="roundRect">
            <a:avLst/>
          </a:prstGeom>
          <a:solidFill>
            <a:srgbClr val="F1F6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463040"/>
            <a:ext cx="73152" cy="1828800"/>
          </a:xfrm>
          <a:prstGeom prst="rect">
            <a:avLst/>
          </a:prstGeom>
          <a:solidFill>
            <a:srgbClr val="2A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600200"/>
            <a:ext cx="3108960" cy="34747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600" b="1">
                <a:solidFill>
                  <a:srgbClr val="0D1B34"/>
                </a:solidFill>
                <a:latin typeface="Aptos"/>
              </a:defRPr>
            </a:pPr>
            <a:r>
              <a:t>Tiempo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029968"/>
            <a:ext cx="3108960" cy="118872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300" b="0">
                <a:solidFill>
                  <a:srgbClr val="1E2B3C"/>
                </a:solidFill>
                <a:latin typeface="Aptos"/>
              </a:defRPr>
            </a:pPr>
            <a:r>
              <a:t>Liberar tiempo para dedicarlo a resolver incidentes.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463040"/>
            <a:ext cx="3429000" cy="1828800"/>
          </a:xfrm>
          <a:prstGeom prst="roundRect">
            <a:avLst/>
          </a:prstGeom>
          <a:solidFill>
            <a:srgbClr val="F1F6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955279" y="1463040"/>
            <a:ext cx="73152" cy="1828800"/>
          </a:xfrm>
          <a:prstGeom prst="rect">
            <a:avLst/>
          </a:prstGeom>
          <a:solidFill>
            <a:srgbClr val="1B8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38159" y="1600200"/>
            <a:ext cx="3108960" cy="34747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600" b="1">
                <a:solidFill>
                  <a:srgbClr val="0D1B34"/>
                </a:solidFill>
                <a:latin typeface="Aptos"/>
              </a:defRPr>
            </a:pPr>
            <a:r>
              <a:t>Datos útiles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59" y="2029968"/>
            <a:ext cx="3108960" cy="118872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300" b="0">
                <a:solidFill>
                  <a:srgbClr val="1E2B3C"/>
                </a:solidFill>
                <a:latin typeface="Aptos"/>
              </a:defRPr>
            </a:pPr>
            <a:r>
              <a:t>Facilitar análisis por categoría y tendencias.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60520"/>
            <a:ext cx="10241280" cy="73152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 algn="ctr">
              <a:defRPr sz="2000" b="1">
                <a:solidFill>
                  <a:srgbClr val="0D1B34"/>
                </a:solidFill>
                <a:latin typeface="Aptos"/>
              </a:defRPr>
            </a:pPr>
            <a:r>
              <a:rPr dirty="0" err="1"/>
              <a:t>Estos</a:t>
            </a:r>
            <a:r>
              <a:rPr dirty="0"/>
              <a:t> </a:t>
            </a:r>
            <a:r>
              <a:rPr dirty="0" err="1"/>
              <a:t>beneficios</a:t>
            </a:r>
            <a:r>
              <a:rPr dirty="0"/>
              <a:t> son </a:t>
            </a:r>
            <a:r>
              <a:rPr dirty="0" err="1"/>
              <a:t>potenciales</a:t>
            </a:r>
            <a:r>
              <a:rPr dirty="0"/>
              <a:t>: </a:t>
            </a:r>
            <a:r>
              <a:rPr dirty="0" err="1"/>
              <a:t>deben</a:t>
            </a:r>
            <a:r>
              <a:rPr dirty="0"/>
              <a:t> </a:t>
            </a:r>
            <a:r>
              <a:rPr dirty="0" err="1"/>
              <a:t>comprobarse</a:t>
            </a:r>
            <a:r>
              <a:rPr dirty="0"/>
              <a:t> con tickets reales anonimizados.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64592"/>
            <a:ext cx="5486400" cy="22860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900" b="1">
                <a:solidFill>
                  <a:srgbClr val="1D68BE"/>
                </a:solidFill>
                <a:latin typeface="Aptos"/>
              </a:defRPr>
            </a:pPr>
            <a:r>
              <a:t>06 • IMPACTO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50292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2700" b="1">
                <a:solidFill>
                  <a:srgbClr val="0D1B34"/>
                </a:solidFill>
                <a:latin typeface="Aptos"/>
              </a:defRPr>
            </a:pPr>
            <a:r>
              <a:rPr lang="es-CO" sz="2700" b="1" dirty="0">
                <a:solidFill>
                  <a:srgbClr val="0D1B34"/>
                </a:solidFill>
                <a:latin typeface="Aptos"/>
              </a:rPr>
              <a:t>Ahorro potencial de tiempo: escenario estimado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658368" y="987552"/>
            <a:ext cx="1005840" cy="45720"/>
          </a:xfrm>
          <a:prstGeom prst="rect">
            <a:avLst/>
          </a:prstGeom>
          <a:solidFill>
            <a:srgbClr val="1D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537960"/>
            <a:ext cx="10972800" cy="20621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800" b="0">
                <a:solidFill>
                  <a:srgbClr val="5F7084"/>
                </a:solidFill>
                <a:latin typeface="Aptos"/>
              </a:defRPr>
            </a:pPr>
            <a:r>
              <a:rPr dirty="0"/>
              <a:t>IT-AI Classifier • Entregable 7 • 1</a:t>
            </a:r>
            <a:r>
              <a:rPr lang="es-CO" dirty="0"/>
              <a:t>5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2560320" cy="1417320"/>
          </a:xfrm>
          <a:prstGeom prst="roundRect">
            <a:avLst/>
          </a:prstGeom>
          <a:solidFill>
            <a:srgbClr val="F1F6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9536" y="1527048"/>
            <a:ext cx="2331720" cy="22860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900" b="1">
                <a:solidFill>
                  <a:srgbClr val="5F7084"/>
                </a:solidFill>
                <a:latin typeface="Aptos"/>
              </a:defRPr>
            </a:pPr>
            <a:r>
              <a:t>MANUAL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801368"/>
            <a:ext cx="2331720" cy="475488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2500" b="1">
                <a:solidFill>
                  <a:srgbClr val="1D68BE"/>
                </a:solidFill>
                <a:latin typeface="Aptos"/>
              </a:defRPr>
            </a:pPr>
            <a:r>
              <a:t>3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350008"/>
            <a:ext cx="2331720" cy="34747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000" b="0">
                <a:solidFill>
                  <a:srgbClr val="1E2B3C"/>
                </a:solidFill>
                <a:latin typeface="Aptos"/>
              </a:defRPr>
            </a:pPr>
            <a:r>
              <a:t>Supuesto por ticket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417320"/>
            <a:ext cx="2560320" cy="1417320"/>
          </a:xfrm>
          <a:prstGeom prst="roundRect">
            <a:avLst/>
          </a:prstGeom>
          <a:solidFill>
            <a:srgbClr val="F1F6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02736" y="1527048"/>
            <a:ext cx="2331720" cy="22860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900" b="1">
                <a:solidFill>
                  <a:srgbClr val="5F7084"/>
                </a:solidFill>
                <a:latin typeface="Aptos"/>
              </a:defRPr>
            </a:pPr>
            <a:r>
              <a:t>CON ASISTENTE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2736" y="1801368"/>
            <a:ext cx="2331720" cy="475488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2500" b="1">
                <a:solidFill>
                  <a:srgbClr val="2ABED2"/>
                </a:solidFill>
                <a:latin typeface="Aptos"/>
              </a:defRPr>
            </a:pPr>
            <a:r>
              <a:t>1,15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2736" y="2350008"/>
            <a:ext cx="2331720" cy="34747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000" b="0">
                <a:solidFill>
                  <a:srgbClr val="1E2B3C"/>
                </a:solidFill>
                <a:latin typeface="Aptos"/>
              </a:defRPr>
            </a:pPr>
            <a:r>
              <a:t>Promedio estimado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2560320" cy="1417320"/>
          </a:xfrm>
          <a:prstGeom prst="roundRect">
            <a:avLst/>
          </a:prstGeom>
          <a:solidFill>
            <a:srgbClr val="F1F6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45936" y="1527048"/>
            <a:ext cx="2331720" cy="22860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900" b="1">
                <a:solidFill>
                  <a:srgbClr val="5F7084"/>
                </a:solidFill>
                <a:latin typeface="Aptos"/>
              </a:defRPr>
            </a:pPr>
            <a:r>
              <a:t>AHORRO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5936" y="1801368"/>
            <a:ext cx="2331720" cy="475488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2500" b="1">
                <a:solidFill>
                  <a:srgbClr val="1B8C62"/>
                </a:solidFill>
                <a:latin typeface="Aptos"/>
              </a:defRPr>
            </a:pPr>
            <a:r>
              <a:t>1,85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2350008"/>
            <a:ext cx="2331720" cy="34747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000" b="0">
                <a:solidFill>
                  <a:srgbClr val="1E2B3C"/>
                </a:solidFill>
                <a:latin typeface="Aptos"/>
              </a:defRPr>
            </a:pPr>
            <a:r>
              <a:t>Por ticket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417320"/>
            <a:ext cx="2468880" cy="1417320"/>
          </a:xfrm>
          <a:prstGeom prst="roundRect">
            <a:avLst/>
          </a:prstGeom>
          <a:solidFill>
            <a:srgbClr val="F1F6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89136" y="1527048"/>
            <a:ext cx="2240280" cy="22860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900" b="1">
                <a:solidFill>
                  <a:srgbClr val="5F7084"/>
                </a:solidFill>
                <a:latin typeface="Aptos"/>
              </a:defRPr>
            </a:pPr>
            <a:r>
              <a:t>VOLUMEN 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89136" y="1801368"/>
            <a:ext cx="2240280" cy="475488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2500" b="1">
                <a:solidFill>
                  <a:srgbClr val="E69B28"/>
                </a:solidFill>
                <a:latin typeface="Aptos"/>
              </a:defRPr>
            </a:pPr>
            <a:r>
              <a:t>1.000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89136" y="2350008"/>
            <a:ext cx="2240280" cy="34747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000" b="0">
                <a:solidFill>
                  <a:srgbClr val="1E2B3C"/>
                </a:solidFill>
                <a:latin typeface="Aptos"/>
              </a:defRPr>
            </a:pPr>
            <a:r>
              <a:t>Tickets al mes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547872"/>
            <a:ext cx="10424160" cy="162198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2000" b="0">
                <a:solidFill>
                  <a:srgbClr val="1E2B3C"/>
                </a:solidFill>
                <a:latin typeface="Aptos"/>
              </a:defRPr>
            </a:pPr>
            <a:r>
              <a:rPr lang="es-CO" dirty="0"/>
              <a:t>“Escenario ilustrativo: se estiman cerca de 31 horas liberadas al mes con 1.000 tickets. El cálculo supone que el 7,5 % requiere revisión detallada de 3 minutos. Estos tiempos deben validarse mediante un piloto con tickets reales anonimizados. El tiempo liberado representa capacidad para otras tareas, no una reducción automática de costos de nómina.”</a:t>
            </a:r>
          </a:p>
          <a:p>
            <a:pPr>
              <a:defRPr sz="2000" b="0">
                <a:solidFill>
                  <a:srgbClr val="1E2B3C"/>
                </a:solidFill>
                <a:latin typeface="Aptos"/>
              </a:defRPr>
            </a:pPr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658368" y="5440680"/>
            <a:ext cx="10058400" cy="36576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400" b="1">
                <a:solidFill>
                  <a:srgbClr val="BE4141"/>
                </a:solidFill>
                <a:latin typeface="Aptos"/>
              </a:defRPr>
            </a:pPr>
            <a:r>
              <a:rPr dirty="0"/>
              <a:t>Horas </a:t>
            </a:r>
            <a:r>
              <a:rPr dirty="0" err="1"/>
              <a:t>liberadas</a:t>
            </a:r>
            <a:r>
              <a:rPr dirty="0"/>
              <a:t> no </a:t>
            </a:r>
            <a:r>
              <a:rPr dirty="0" err="1"/>
              <a:t>equivalen</a:t>
            </a:r>
            <a:r>
              <a:rPr dirty="0"/>
              <a:t> automáticamente a reducción de </a:t>
            </a:r>
            <a:r>
              <a:rPr dirty="0" err="1"/>
              <a:t>nómina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64592"/>
            <a:ext cx="5486400" cy="22860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900" b="1">
                <a:solidFill>
                  <a:srgbClr val="1D68BE"/>
                </a:solidFill>
                <a:latin typeface="Aptos"/>
              </a:defRPr>
            </a:pPr>
            <a:r>
              <a:t>06 • IMPACTO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50292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2700" b="1">
                <a:solidFill>
                  <a:srgbClr val="0D1B34"/>
                </a:solidFill>
                <a:latin typeface="Aptos"/>
              </a:defRPr>
            </a:pPr>
            <a:r>
              <a:rPr lang="es-CO" sz="2700" b="1" dirty="0">
                <a:solidFill>
                  <a:srgbClr val="0D1B34"/>
                </a:solidFill>
                <a:latin typeface="Aptos"/>
              </a:rPr>
              <a:t>Viabilidad económica: escenarios de ROI a 12 meses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658368" y="987552"/>
            <a:ext cx="1005840" cy="45720"/>
          </a:xfrm>
          <a:prstGeom prst="rect">
            <a:avLst/>
          </a:prstGeom>
          <a:solidFill>
            <a:srgbClr val="1D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537960"/>
            <a:ext cx="10972800" cy="20621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800" b="0">
                <a:solidFill>
                  <a:srgbClr val="5F7084"/>
                </a:solidFill>
                <a:latin typeface="Aptos"/>
              </a:defRPr>
            </a:pPr>
            <a:r>
              <a:rPr dirty="0"/>
              <a:t>IT-AI Classifier • Entregable 7 • 1</a:t>
            </a:r>
            <a:r>
              <a:rPr lang="es-CO" dirty="0"/>
              <a:t>6</a:t>
            </a:r>
            <a:endParaRPr dirty="0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325880"/>
          <a:ext cx="667512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635240" y="1463040"/>
            <a:ext cx="3657600" cy="1097280"/>
          </a:xfrm>
          <a:prstGeom prst="roundRect">
            <a:avLst/>
          </a:prstGeom>
          <a:solidFill>
            <a:srgbClr val="F1F6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35240" y="1463040"/>
            <a:ext cx="73152" cy="1097280"/>
          </a:xfrm>
          <a:prstGeom prst="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18119" y="1600200"/>
            <a:ext cx="3337560" cy="34747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600" b="1">
                <a:solidFill>
                  <a:srgbClr val="0D1B34"/>
                </a:solidFill>
                <a:latin typeface="Aptos"/>
              </a:defRPr>
            </a:pPr>
            <a:r>
              <a:t>1.000 al 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19" y="2029968"/>
            <a:ext cx="3337560" cy="45720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300" b="0">
                <a:solidFill>
                  <a:srgbClr val="1E2B3C"/>
                </a:solidFill>
                <a:latin typeface="Aptos"/>
              </a:defRPr>
            </a:pPr>
            <a:r>
              <a:t>ROI 12 meses: −82 %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2743200"/>
            <a:ext cx="3657600" cy="1097280"/>
          </a:xfrm>
          <a:prstGeom prst="roundRect">
            <a:avLst/>
          </a:prstGeom>
          <a:solidFill>
            <a:srgbClr val="F1F6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635240" y="2743200"/>
            <a:ext cx="73152" cy="1097280"/>
          </a:xfrm>
          <a:prstGeom prst="rect">
            <a:avLst/>
          </a:prstGeom>
          <a:solidFill>
            <a:srgbClr val="1B8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18119" y="2880360"/>
            <a:ext cx="3337560" cy="34747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600" b="1">
                <a:solidFill>
                  <a:srgbClr val="0D1B34"/>
                </a:solidFill>
                <a:latin typeface="Aptos"/>
              </a:defRPr>
            </a:pPr>
            <a:r>
              <a:t>2.000 al 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19" y="3310128"/>
            <a:ext cx="3337560" cy="45720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300" b="0">
                <a:solidFill>
                  <a:srgbClr val="1E2B3C"/>
                </a:solidFill>
                <a:latin typeface="Aptos"/>
              </a:defRPr>
            </a:pPr>
            <a:r>
              <a:t>ROI 12 meses: +21 %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4023360"/>
            <a:ext cx="3657600" cy="1097280"/>
          </a:xfrm>
          <a:prstGeom prst="roundRect">
            <a:avLst/>
          </a:prstGeom>
          <a:solidFill>
            <a:srgbClr val="F1F6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635240" y="4023360"/>
            <a:ext cx="73152" cy="1097280"/>
          </a:xfrm>
          <a:prstGeom prst="rect">
            <a:avLst/>
          </a:prstGeom>
          <a:solidFill>
            <a:srgbClr val="1D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18119" y="4160520"/>
            <a:ext cx="3337560" cy="34747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600" b="1">
                <a:solidFill>
                  <a:srgbClr val="0D1B34"/>
                </a:solidFill>
                <a:latin typeface="Aptos"/>
              </a:defRPr>
            </a:pPr>
            <a:r>
              <a:t>4.000 al 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19" y="4590288"/>
            <a:ext cx="3337560" cy="45720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300" b="0">
                <a:solidFill>
                  <a:srgbClr val="1E2B3C"/>
                </a:solidFill>
                <a:latin typeface="Aptos"/>
              </a:defRPr>
            </a:pPr>
            <a:r>
              <a:t>ROI 12 meses: +227 %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897880"/>
            <a:ext cx="10789920" cy="421654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100" b="0">
                <a:solidFill>
                  <a:srgbClr val="5F7084"/>
                </a:solidFill>
                <a:latin typeface="Aptos"/>
              </a:defRPr>
            </a:pPr>
            <a:r>
              <a:rPr lang="es-CO" sz="1100" dirty="0">
                <a:solidFill>
                  <a:srgbClr val="5F7084"/>
                </a:solidFill>
                <a:latin typeface="Aptos"/>
              </a:rPr>
              <a:t>Supuestos ilustrativos: inversión inicial de $6.354.000 COP, operación mensual de $450.000 COP y costo hora cargado estimado de $17.700 COP. El ROI depende del volumen de tickets y del ahorro de tiempo realmente alcanzado. Las cifras deben validarse con mediciones del piloto y costos reales de la organización.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64592"/>
            <a:ext cx="5486400" cy="22860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900" b="1">
                <a:solidFill>
                  <a:srgbClr val="1D68BE"/>
                </a:solidFill>
                <a:latin typeface="Aptos"/>
              </a:defRPr>
            </a:pPr>
            <a:r>
              <a:t>06 • IMPACTO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50292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2700" b="1">
                <a:solidFill>
                  <a:srgbClr val="0D1B34"/>
                </a:solidFill>
                <a:latin typeface="Aptos"/>
              </a:defRPr>
            </a:pPr>
            <a:r>
              <a:t>Condiciones éticas para avanzar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987552"/>
            <a:ext cx="1005840" cy="45720"/>
          </a:xfrm>
          <a:prstGeom prst="rect">
            <a:avLst/>
          </a:prstGeom>
          <a:solidFill>
            <a:srgbClr val="1D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537960"/>
            <a:ext cx="10972800" cy="20621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800" b="0">
                <a:solidFill>
                  <a:srgbClr val="5F7084"/>
                </a:solidFill>
                <a:latin typeface="Aptos"/>
              </a:defRPr>
            </a:pPr>
            <a:r>
              <a:rPr dirty="0"/>
              <a:t>IT-AI Classifier • Entregable 7 • 1</a:t>
            </a:r>
            <a:r>
              <a:rPr lang="es-CO" dirty="0"/>
              <a:t>7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3429000" cy="2057400"/>
          </a:xfrm>
          <a:prstGeom prst="roundRect">
            <a:avLst/>
          </a:prstGeom>
          <a:solidFill>
            <a:srgbClr val="F1F6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463040"/>
            <a:ext cx="73152" cy="2057400"/>
          </a:xfrm>
          <a:prstGeom prst="rect">
            <a:avLst/>
          </a:prstGeom>
          <a:solidFill>
            <a:srgbClr val="1D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600200"/>
            <a:ext cx="3108960" cy="34747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600" b="1">
                <a:solidFill>
                  <a:srgbClr val="0D1B34"/>
                </a:solidFill>
                <a:latin typeface="Aptos"/>
              </a:defRPr>
            </a:pPr>
            <a:r>
              <a:t>Privacidad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3108960" cy="141732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300" b="0">
                <a:solidFill>
                  <a:srgbClr val="1E2B3C"/>
                </a:solidFill>
                <a:latin typeface="Aptos"/>
              </a:defRPr>
            </a:pPr>
            <a:r>
              <a:t>Anonimizar datos, limitar accesos y evitar servicios externos sin autorización.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63040"/>
            <a:ext cx="3429000" cy="2057400"/>
          </a:xfrm>
          <a:prstGeom prst="roundRect">
            <a:avLst/>
          </a:prstGeom>
          <a:solidFill>
            <a:srgbClr val="F1F6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463040"/>
            <a:ext cx="73152" cy="2057400"/>
          </a:xfrm>
          <a:prstGeom prst="rect">
            <a:avLst/>
          </a:prstGeom>
          <a:solidFill>
            <a:srgbClr val="2A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600200"/>
            <a:ext cx="3108960" cy="34747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600" b="1">
                <a:solidFill>
                  <a:srgbClr val="0D1B34"/>
                </a:solidFill>
                <a:latin typeface="Aptos"/>
              </a:defRPr>
            </a:pPr>
            <a:r>
              <a:t>Equidad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029968"/>
            <a:ext cx="3108960" cy="141732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300" b="0">
                <a:solidFill>
                  <a:srgbClr val="1E2B3C"/>
                </a:solidFill>
                <a:latin typeface="Aptos"/>
              </a:defRPr>
            </a:pPr>
            <a:r>
              <a:t>Probar estilos distintos de redacción y medir resultados por categoría.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463040"/>
            <a:ext cx="3429000" cy="2057400"/>
          </a:xfrm>
          <a:prstGeom prst="roundRect">
            <a:avLst/>
          </a:prstGeom>
          <a:solidFill>
            <a:srgbClr val="F1F6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955279" y="1463040"/>
            <a:ext cx="73152" cy="2057400"/>
          </a:xfrm>
          <a:prstGeom prst="rect">
            <a:avLst/>
          </a:prstGeom>
          <a:solidFill>
            <a:srgbClr val="1B8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38159" y="1600200"/>
            <a:ext cx="3108960" cy="34747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600" b="1">
                <a:solidFill>
                  <a:srgbClr val="0D1B34"/>
                </a:solidFill>
                <a:latin typeface="Aptos"/>
              </a:defRPr>
            </a:pPr>
            <a:r>
              <a:t>Responsabilidad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59" y="2029968"/>
            <a:ext cx="3108960" cy="141732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300" b="0">
                <a:solidFill>
                  <a:srgbClr val="1E2B3C"/>
                </a:solidFill>
                <a:latin typeface="Aptos"/>
              </a:defRPr>
            </a:pPr>
            <a:r>
              <a:t>El técnico confirma; TI mantiene y monitorea el modelo.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97680"/>
            <a:ext cx="10241280" cy="64008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 algn="ctr">
              <a:defRPr sz="2200" b="1">
                <a:solidFill>
                  <a:srgbClr val="0D1B34"/>
                </a:solidFill>
                <a:latin typeface="Aptos"/>
              </a:defRPr>
            </a:pPr>
            <a:r>
              <a:t>La IA apoya el criterio profesional; no lo reemplaza.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64592"/>
            <a:ext cx="5486400" cy="22860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900" b="1">
                <a:solidFill>
                  <a:srgbClr val="1D68BE"/>
                </a:solidFill>
                <a:latin typeface="Aptos"/>
              </a:defRPr>
            </a:pPr>
            <a:r>
              <a:t>06 • IMPACTO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50292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2700" b="1">
                <a:solidFill>
                  <a:srgbClr val="0D1B34"/>
                </a:solidFill>
                <a:latin typeface="Aptos"/>
              </a:defRPr>
            </a:pPr>
            <a:r>
              <a:t>Plan para pasar del prototipo a un piloto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987552"/>
            <a:ext cx="1005840" cy="45720"/>
          </a:xfrm>
          <a:prstGeom prst="rect">
            <a:avLst/>
          </a:prstGeom>
          <a:solidFill>
            <a:srgbClr val="1D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537960"/>
            <a:ext cx="10972800" cy="20621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800" b="0">
                <a:solidFill>
                  <a:srgbClr val="5F7084"/>
                </a:solidFill>
                <a:latin typeface="Aptos"/>
              </a:defRPr>
            </a:pPr>
            <a:r>
              <a:rPr dirty="0"/>
              <a:t>IT-AI Classifier • Entregable 7 • 1</a:t>
            </a:r>
            <a:r>
              <a:rPr lang="es-CO" dirty="0"/>
              <a:t>8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2057400" cy="1965960"/>
          </a:xfrm>
          <a:prstGeom prst="roundRect">
            <a:avLst/>
          </a:prstGeom>
          <a:solidFill>
            <a:srgbClr val="F1F6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73152" cy="1965960"/>
          </a:xfrm>
          <a:prstGeom prst="rect">
            <a:avLst/>
          </a:prstGeom>
          <a:solidFill>
            <a:srgbClr val="1D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965960"/>
            <a:ext cx="1737360" cy="34747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600" b="1">
                <a:solidFill>
                  <a:srgbClr val="0D1B34"/>
                </a:solidFill>
                <a:latin typeface="Aptos"/>
              </a:defRPr>
            </a:pPr>
            <a:r>
              <a:t>1. Preparar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95728"/>
            <a:ext cx="1737360" cy="132588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300" b="0">
                <a:solidFill>
                  <a:srgbClr val="1E2B3C"/>
                </a:solidFill>
                <a:latin typeface="Aptos"/>
              </a:defRPr>
            </a:pPr>
            <a:r>
              <a:t>Definir métricas y responsables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87752" y="2487168"/>
            <a:ext cx="228600" cy="36576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 algn="ctr">
              <a:defRPr sz="2000" b="1">
                <a:solidFill>
                  <a:srgbClr val="1D68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62072" y="1828800"/>
            <a:ext cx="2057400" cy="1965960"/>
          </a:xfrm>
          <a:prstGeom prst="roundRect">
            <a:avLst/>
          </a:prstGeom>
          <a:solidFill>
            <a:srgbClr val="F1F6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862072" y="1828800"/>
            <a:ext cx="73152" cy="1965960"/>
          </a:xfrm>
          <a:prstGeom prst="rect">
            <a:avLst/>
          </a:prstGeom>
          <a:solidFill>
            <a:srgbClr val="2A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44952" y="1965960"/>
            <a:ext cx="1737360" cy="34747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600" b="1">
                <a:solidFill>
                  <a:srgbClr val="0D1B34"/>
                </a:solidFill>
                <a:latin typeface="Aptos"/>
              </a:defRPr>
            </a:pPr>
            <a:r>
              <a:t>2. Proteger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4952" y="2395728"/>
            <a:ext cx="1737360" cy="132588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300" b="0">
                <a:solidFill>
                  <a:srgbClr val="1E2B3C"/>
                </a:solidFill>
                <a:latin typeface="Aptos"/>
              </a:defRPr>
            </a:pPr>
            <a:r>
              <a:t>Anonimizar datos reales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46904" y="2487168"/>
            <a:ext cx="228600" cy="36576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 algn="ctr">
              <a:defRPr sz="2000" b="1">
                <a:solidFill>
                  <a:srgbClr val="1D68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21224" y="1828800"/>
            <a:ext cx="2057400" cy="1965960"/>
          </a:xfrm>
          <a:prstGeom prst="roundRect">
            <a:avLst/>
          </a:prstGeom>
          <a:solidFill>
            <a:srgbClr val="F1F6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221224" y="1828800"/>
            <a:ext cx="73152" cy="1965960"/>
          </a:xfrm>
          <a:prstGeom prst="rect">
            <a:avLst/>
          </a:prstGeom>
          <a:solidFill>
            <a:srgbClr val="E69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04104" y="1965960"/>
            <a:ext cx="1737360" cy="34747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600" b="1">
                <a:solidFill>
                  <a:srgbClr val="0D1B34"/>
                </a:solidFill>
                <a:latin typeface="Aptos"/>
              </a:defRPr>
            </a:pPr>
            <a:r>
              <a:t>3. Probar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4104" y="2395728"/>
            <a:ext cx="1737360" cy="132588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300" b="0">
                <a:solidFill>
                  <a:srgbClr val="1E2B3C"/>
                </a:solidFill>
                <a:latin typeface="Aptos"/>
              </a:defRPr>
            </a:pPr>
            <a:r>
              <a:t>Solo recomendaciones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06056" y="2487168"/>
            <a:ext cx="228600" cy="36576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 algn="ctr">
              <a:defRPr sz="2000" b="1">
                <a:solidFill>
                  <a:srgbClr val="1D68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0376" y="1828800"/>
            <a:ext cx="2057400" cy="1965960"/>
          </a:xfrm>
          <a:prstGeom prst="roundRect">
            <a:avLst/>
          </a:prstGeom>
          <a:solidFill>
            <a:srgbClr val="F1F6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580376" y="1828800"/>
            <a:ext cx="73152" cy="1965960"/>
          </a:xfrm>
          <a:prstGeom prst="rect">
            <a:avLst/>
          </a:prstGeom>
          <a:solidFill>
            <a:srgbClr val="1B8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63256" y="1965960"/>
            <a:ext cx="1737360" cy="34747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600" b="1">
                <a:solidFill>
                  <a:srgbClr val="0D1B34"/>
                </a:solidFill>
                <a:latin typeface="Aptos"/>
              </a:defRPr>
            </a:pPr>
            <a:r>
              <a:t>4. Medir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63256" y="2395728"/>
            <a:ext cx="1737360" cy="132588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300" b="0">
                <a:solidFill>
                  <a:srgbClr val="1E2B3C"/>
                </a:solidFill>
                <a:latin typeface="Aptos"/>
              </a:defRPr>
            </a:pPr>
            <a:r>
              <a:t>Errores, tiempos y correcciones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65208" y="2487168"/>
            <a:ext cx="228600" cy="36576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 algn="ctr">
              <a:defRPr sz="2000" b="1">
                <a:solidFill>
                  <a:srgbClr val="1D68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39528" y="1828800"/>
            <a:ext cx="2057400" cy="1965960"/>
          </a:xfrm>
          <a:prstGeom prst="roundRect">
            <a:avLst/>
          </a:prstGeom>
          <a:solidFill>
            <a:srgbClr val="F1F6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939528" y="1828800"/>
            <a:ext cx="73152" cy="1965960"/>
          </a:xfrm>
          <a:prstGeom prst="rect">
            <a:avLst/>
          </a:prstGeom>
          <a:solidFill>
            <a:srgbClr val="0D1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122408" y="1965960"/>
            <a:ext cx="1737360" cy="347472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600" b="1">
                <a:solidFill>
                  <a:srgbClr val="0D1B34"/>
                </a:solidFill>
                <a:latin typeface="Aptos"/>
              </a:defRPr>
            </a:pPr>
            <a:r>
              <a:t>5. Decidir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22408" y="2395728"/>
            <a:ext cx="1737360" cy="132588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300" b="0">
                <a:solidFill>
                  <a:srgbClr val="1E2B3C"/>
                </a:solidFill>
                <a:latin typeface="Aptos"/>
              </a:defRPr>
            </a:pPr>
            <a:r>
              <a:t>Avanzar o volver al proceso manual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617720"/>
            <a:ext cx="10424160" cy="73152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 algn="ctr">
              <a:defRPr sz="1900" b="1">
                <a:solidFill>
                  <a:srgbClr val="0D1B34"/>
                </a:solidFill>
                <a:latin typeface="Aptos"/>
              </a:defRPr>
            </a:pPr>
            <a:r>
              <a:t>Condición: resultados aceptables, privacidad revisada, revisión humana y mecanismo de reversión.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64592"/>
            <a:ext cx="5486400" cy="22860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900" b="1">
                <a:solidFill>
                  <a:srgbClr val="1D68BE"/>
                </a:solidFill>
                <a:latin typeface="Aptos"/>
              </a:defRPr>
            </a:pPr>
            <a:r>
              <a:t>07 • 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50292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2700" b="1">
                <a:solidFill>
                  <a:srgbClr val="0D1B34"/>
                </a:solidFill>
                <a:latin typeface="Aptos"/>
              </a:defRPr>
            </a:pPr>
            <a:r>
              <a:t>Conclusiones: qué aprendimos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987552"/>
            <a:ext cx="1005840" cy="45720"/>
          </a:xfrm>
          <a:prstGeom prst="rect">
            <a:avLst/>
          </a:prstGeom>
          <a:solidFill>
            <a:srgbClr val="1D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537960"/>
            <a:ext cx="10972800" cy="20621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800" b="0">
                <a:solidFill>
                  <a:srgbClr val="5F7084"/>
                </a:solidFill>
                <a:latin typeface="Aptos"/>
              </a:defRPr>
            </a:pPr>
            <a:r>
              <a:rPr dirty="0"/>
              <a:t>IT-AI Classifier • Entregable 7 • 1</a:t>
            </a:r>
            <a:r>
              <a:rPr lang="es-CO" dirty="0"/>
              <a:t>9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2B3C"/>
                </a:solidFill>
                <a:latin typeface="Aptos"/>
              </a:defRPr>
            </a:pPr>
            <a:r>
              <a:t>•  La IA puede apoyar la clasificación inicial de tickets.</a:t>
            </a:r>
          </a:p>
          <a:p>
            <a:pPr>
              <a:spcAft>
                <a:spcPts val="1200"/>
              </a:spcAft>
              <a:defRPr sz="1800">
                <a:solidFill>
                  <a:srgbClr val="1E2B3C"/>
                </a:solidFill>
                <a:latin typeface="Aptos"/>
              </a:defRPr>
            </a:pPr>
            <a:r>
              <a:t>•  Un buen resultado con datos sintéticos no garantiza desempeño en producción.</a:t>
            </a:r>
          </a:p>
          <a:p>
            <a:pPr>
              <a:spcAft>
                <a:spcPts val="1200"/>
              </a:spcAft>
              <a:defRPr sz="1800">
                <a:solidFill>
                  <a:srgbClr val="1E2B3C"/>
                </a:solidFill>
                <a:latin typeface="Aptos"/>
              </a:defRPr>
            </a:pPr>
            <a:r>
              <a:t>•  La evaluación requiere métricas por categoría, análisis de errores y validación humana.</a:t>
            </a:r>
          </a:p>
          <a:p>
            <a:pPr>
              <a:spcAft>
                <a:spcPts val="1200"/>
              </a:spcAft>
              <a:defRPr sz="1800">
                <a:solidFill>
                  <a:srgbClr val="1E2B3C"/>
                </a:solidFill>
                <a:latin typeface="Aptos"/>
              </a:defRPr>
            </a:pPr>
            <a:r>
              <a:t>•  La viabilidad depende del volumen real y del ahorro observado.</a:t>
            </a:r>
          </a:p>
          <a:p>
            <a:pPr>
              <a:spcAft>
                <a:spcPts val="1200"/>
              </a:spcAft>
              <a:defRPr sz="1800">
                <a:solidFill>
                  <a:srgbClr val="1E2B3C"/>
                </a:solidFill>
                <a:latin typeface="Aptos"/>
              </a:defRPr>
            </a:pPr>
            <a:r>
              <a:t>•  La implementación debe ser gradual, segura y reversible.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623560"/>
            <a:ext cx="10332720" cy="50292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 algn="ctr">
              <a:defRPr sz="2000" b="1">
                <a:solidFill>
                  <a:srgbClr val="1B8C62"/>
                </a:solidFill>
                <a:latin typeface="Aptos"/>
              </a:defRPr>
            </a:pPr>
            <a:r>
              <a:rPr dirty="0"/>
              <a:t>Conclusión: prototipo </a:t>
            </a:r>
            <a:r>
              <a:rPr dirty="0" err="1"/>
              <a:t>prometedor</a:t>
            </a:r>
            <a:r>
              <a:rPr dirty="0"/>
              <a:t> para un piloto controlado; </a:t>
            </a:r>
            <a:r>
              <a:rPr dirty="0" err="1"/>
              <a:t>todavía</a:t>
            </a:r>
            <a:r>
              <a:rPr dirty="0"/>
              <a:t> no está listo para producción.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537960"/>
            <a:ext cx="10972800" cy="20621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800" b="0">
                <a:solidFill>
                  <a:srgbClr val="BECDDE"/>
                </a:solidFill>
                <a:latin typeface="Aptos"/>
              </a:defRPr>
            </a:pPr>
            <a:r>
              <a:rPr dirty="0"/>
              <a:t>IT-AI Classifier • Entregable 7 • </a:t>
            </a:r>
            <a:r>
              <a:rPr lang="es-CO" dirty="0"/>
              <a:t>20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7315200" cy="73152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"/>
              </a:defRPr>
            </a:pPr>
            <a:r>
              <a:t>IT-AI Classifier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058400" cy="73152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2400" b="1">
                <a:solidFill>
                  <a:srgbClr val="2ABED2"/>
                </a:solidFill>
                <a:latin typeface="Aptos"/>
              </a:defRPr>
            </a:pPr>
            <a:r>
              <a:t>Una recomendación útil. Una decisión humana. Un mejor proceso.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4572000" cy="100584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"/>
              </a:defRPr>
            </a:pPr>
            <a:r>
              <a:rPr dirty="0"/>
              <a:t>Gracias</a:t>
            </a:r>
            <a:br>
              <a:rPr dirty="0"/>
            </a:br>
            <a:r>
              <a:rPr dirty="0" err="1"/>
              <a:t>Preguntas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822960" y="5760720"/>
            <a:ext cx="8229600" cy="320040"/>
          </a:xfrm>
          <a:prstGeom prst="rect">
            <a:avLst/>
          </a:prstGeom>
          <a:noFill/>
        </p:spPr>
        <p:txBody>
          <a:bodyPr wrap="square" lIns="64008" tIns="36576" rIns="64008">
            <a:spAutoFit/>
          </a:bodyPr>
          <a:lstStyle/>
          <a:p>
            <a:pPr>
              <a:defRPr sz="1300" b="0">
                <a:solidFill>
                  <a:srgbClr val="C8D7E9"/>
                </a:solidFill>
                <a:latin typeface="Aptos"/>
              </a:defRPr>
            </a:pPr>
            <a:r>
              <a:t>Wilson Fernando Pinzón Guacaneme • Ingeniería de Sistemas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1485</Words>
  <Application>Microsoft Office PowerPoint</Application>
  <PresentationFormat>Panorámica</PresentationFormat>
  <Paragraphs>227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4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Wilson Fernando Pinzon Guacaneme</cp:lastModifiedBy>
  <cp:revision>10</cp:revision>
  <dcterms:created xsi:type="dcterms:W3CDTF">2013-01-27T09:14:16Z</dcterms:created>
  <dcterms:modified xsi:type="dcterms:W3CDTF">2026-10-21T16:12:20Z</dcterms:modified>
  <cp:category/>
</cp:coreProperties>
</file>